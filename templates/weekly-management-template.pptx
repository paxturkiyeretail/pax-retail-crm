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34" r:id="rId2"/>
    <p:sldId id="13368" r:id="rId3"/>
    <p:sldId id="13362" r:id="rId4"/>
    <p:sldId id="256" r:id="rId5"/>
    <p:sldId id="13371" r:id="rId6"/>
    <p:sldId id="257" r:id="rId7"/>
    <p:sldId id="13363" r:id="rId8"/>
    <p:sldId id="410" r:id="rId9"/>
    <p:sldId id="407" r:id="rId10"/>
    <p:sldId id="411" r:id="rId11"/>
    <p:sldId id="13370" r:id="rId12"/>
    <p:sldId id="13369" r:id="rId13"/>
    <p:sldId id="405" r:id="rId14"/>
    <p:sldId id="13367" r:id="rId15"/>
    <p:sldId id="13366" r:id="rId16"/>
    <p:sldId id="13364" r:id="rId17"/>
    <p:sldId id="381" r:id="rId18"/>
    <p:sldId id="34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696" userDrawn="1">
          <p15:clr>
            <a:srgbClr val="A4A3A4"/>
          </p15:clr>
        </p15:guide>
        <p15:guide id="3" orient="horz" pos="240" userDrawn="1">
          <p15:clr>
            <a:srgbClr val="A4A3A4"/>
          </p15:clr>
        </p15:guide>
        <p15:guide id="4" orient="horz" pos="4080" userDrawn="1">
          <p15:clr>
            <a:srgbClr val="A4A3A4"/>
          </p15:clr>
        </p15:guide>
        <p15:guide id="5" pos="7416" userDrawn="1">
          <p15:clr>
            <a:srgbClr val="A4A3A4"/>
          </p15:clr>
        </p15:guide>
        <p15:guide id="6" pos="2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55B"/>
    <a:srgbClr val="0A9FD4"/>
    <a:srgbClr val="FFFFFF"/>
    <a:srgbClr val="1BB5F7"/>
    <a:srgbClr val="E5AF4B"/>
    <a:srgbClr val="7BD8F9"/>
    <a:srgbClr val="08C4C0"/>
    <a:srgbClr val="0AE6E1"/>
    <a:srgbClr val="FFFF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02042C-7DFA-E594-3048-7377B7EC9595}" v="793" dt="2026-04-17T12:53:01.310"/>
    <p1510:client id="{B00462EE-89EA-7791-E8FA-C479099440A0}" v="490" dt="2026-04-17T21:17:48.7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Açık Stil 3 - Vurgu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Açık Stil 3 - Vurgu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505E3EF-67EA-436B-97B2-0124C06EBD24}" styleName="Orta Stil 4 - Vurgu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Orta Stil 4 - Vurgu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Orta Stil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202B0CA-FC54-4496-8BCA-5EF66A818D29}" styleName="Koyu Stil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Koyu Stil 2 - Vurgu 3/Vurgu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034E78-7F5D-4C2E-B375-FC64B27BC917}" styleName="Koyu Stil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>
        <p:guide orient="horz" pos="2160"/>
        <p:guide pos="3696"/>
        <p:guide orient="horz" pos="240"/>
        <p:guide orient="horz" pos="4080"/>
        <p:guide pos="7416"/>
        <p:guide pos="2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Durum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66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733-46A2-9961-09D3FDB4349F}"/>
              </c:ext>
            </c:extLst>
          </c:dPt>
          <c:dPt>
            <c:idx val="1"/>
            <c:bubble3D val="0"/>
            <c:spPr>
              <a:solidFill>
                <a:srgbClr val="F0A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733-46A2-9961-09D3FDB4349F}"/>
              </c:ext>
            </c:extLst>
          </c:dPt>
          <c:cat>
            <c:strRef>
              <c:f>Sheet1!$A$2:$A$3</c:f>
              <c:strCache>
                <c:ptCount val="2"/>
                <c:pt idx="0">
                  <c:v>Tamamlandı (72%)</c:v>
                </c:pt>
                <c:pt idx="1">
                  <c:v>Devam Ediyor (28%)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</c:v>
                </c:pt>
                <c:pt idx="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733-46A2-9961-09D3FDB434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46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Firma</c:v>
                </c:pt>
              </c:strCache>
            </c:strRef>
          </c:tx>
          <c:spPr>
            <a:solidFill>
              <a:srgbClr val="2266C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tr-T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Ingenico</c:v>
                </c:pt>
                <c:pt idx="1">
                  <c:v>Hugin</c:v>
                </c:pt>
                <c:pt idx="2">
                  <c:v>Verifone</c:v>
                </c:pt>
                <c:pt idx="3">
                  <c:v>Pavo</c:v>
                </c:pt>
                <c:pt idx="4">
                  <c:v>Diğer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21</c:v>
                </c:pt>
                <c:pt idx="2">
                  <c:v>16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B7-4BC8-B366-476CBDBD210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Firma</c:v>
                </c:pt>
              </c:strCache>
            </c:strRef>
          </c:tx>
          <c:spPr>
            <a:solidFill>
              <a:srgbClr val="2266C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tr-T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Donanım Sunumu (Faz 6)</c:v>
                </c:pt>
                <c:pt idx="1">
                  <c:v>Teklif Hazırlama (Faz 10)</c:v>
                </c:pt>
                <c:pt idx="2">
                  <c:v>Lead Oluşumu (Faz 1)</c:v>
                </c:pt>
                <c:pt idx="3">
                  <c:v>Lead Validasyon (Faz 4)</c:v>
                </c:pt>
                <c:pt idx="4">
                  <c:v>Op. Analizi (Faz 9)</c:v>
                </c:pt>
                <c:pt idx="5">
                  <c:v>Diğer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</c:v>
                </c:pt>
                <c:pt idx="1">
                  <c:v>19</c:v>
                </c:pt>
                <c:pt idx="2">
                  <c:v>7</c:v>
                </c:pt>
                <c:pt idx="3">
                  <c:v>6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5D-461C-A731-9445BF310D4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4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Firma</c:v>
                </c:pt>
              </c:strCache>
            </c:strRef>
          </c:tx>
          <c:spPr>
            <a:solidFill>
              <a:srgbClr val="F0A02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tr-T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Konsinye (Faz 11)</c:v>
                </c:pt>
                <c:pt idx="1">
                  <c:v>POC Kurulum (Faz 12)</c:v>
                </c:pt>
                <c:pt idx="2">
                  <c:v>Rollout (Faz 24)</c:v>
                </c:pt>
                <c:pt idx="3">
                  <c:v>Uçtan Uca Test (Faz 13)</c:v>
                </c:pt>
                <c:pt idx="4">
                  <c:v>Ziyaret Planlama (Faz 3)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7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69-43C8-8736-C338D41A83E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4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4E53D0-1FE3-4434-B5B9-3179A6B3985E}" type="datetimeFigureOut">
              <a:rPr lang="tr-TR" smtClean="0"/>
              <a:t>11.05.2026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30FD6-40EA-46E8-A917-71F4ACFE219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36369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A3498-149B-1E8B-F281-CE7D3981C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55C62755-38CE-5F79-B862-D0C3AF1B9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4026E91C-B860-F86D-DB23-8E17C0ECB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Herkese merhaba,</a:t>
            </a:r>
          </a:p>
          <a:p>
            <a:r>
              <a:rPr lang="tr-TR" dirty="0"/>
              <a:t>Bu hafta </a:t>
            </a:r>
            <a:r>
              <a:rPr lang="tr-TR" dirty="0" err="1"/>
              <a:t>Retail</a:t>
            </a:r>
            <a:r>
              <a:rPr lang="tr-TR" dirty="0"/>
              <a:t> tarafında pilot süreçlerden yaygın kullanıma geçişin başladığı bir döneme girdik.</a:t>
            </a:r>
          </a:p>
          <a:p>
            <a:endParaRPr lang="tr-TR" dirty="0"/>
          </a:p>
          <a:p>
            <a:r>
              <a:rPr lang="tr-TR" dirty="0"/>
              <a:t>Yeni eklenen 5 POC, ve yaygınlaştırma aşamasına yaklaşan projeler ve yeni oluşan stratejik fırsatlar bulunuyor.</a:t>
            </a:r>
          </a:p>
          <a:p>
            <a:endParaRPr lang="tr-TR" dirty="0"/>
          </a:p>
          <a:p>
            <a:r>
              <a:rPr lang="tr-TR" dirty="0"/>
              <a:t>Ancak bu geçişi hızlandırabilmemiz için bugün yönetim seviyesinde netleştirmemiz gereken kararlar ve ticari etkisi olan birkaç kritik blokajımız var.</a:t>
            </a:r>
          </a:p>
          <a:p>
            <a:endParaRPr lang="tr-TR" dirty="0"/>
          </a:p>
          <a:p>
            <a:r>
              <a:rPr lang="tr-TR" dirty="0"/>
              <a:t>Amacım bugün bu kararları netleştirip, önümüzdeki hafta projeleri sahaya indirecek aksiyonları kilitlemek.</a:t>
            </a:r>
          </a:p>
          <a:p>
            <a:r>
              <a:rPr lang="tr-TR" dirty="0"/>
              <a:t>Önce yönetim kararı gerektiren başlıklarla başlamak istiyorum.</a:t>
            </a:r>
          </a:p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6CE7A5E-64EC-2A3E-95E9-6453CAF2B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E6B70-B639-4C88-9928-24B709A4F60C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978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31FC5-B368-EE70-F9C6-19D8680DB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08899430-12C9-5CC5-679C-8CCC07B0C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EEACD36A-BD64-6FFD-4078-25070A5C9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Herkese merhaba,</a:t>
            </a:r>
          </a:p>
          <a:p>
            <a:r>
              <a:rPr lang="tr-TR" dirty="0"/>
              <a:t>Bu hafta Retail tarafında pilot süreçlerden yaygın kullanıma geçişin başladığı bir döneme girdik.</a:t>
            </a:r>
          </a:p>
          <a:p>
            <a:endParaRPr lang="tr-TR" dirty="0"/>
          </a:p>
          <a:p>
            <a:r>
              <a:rPr lang="tr-TR" dirty="0"/>
              <a:t>Yeni eklenen 5 POC, ve yaygınlaştırma aşamasına yaklaşan projeler ve yeni oluşan stratejik fırsatlar bulunuyor.</a:t>
            </a:r>
          </a:p>
          <a:p>
            <a:endParaRPr lang="tr-TR" dirty="0"/>
          </a:p>
          <a:p>
            <a:r>
              <a:rPr lang="tr-TR" dirty="0"/>
              <a:t>Ancak bu geçişi hızlandırabilmemiz için bugün yönetim seviyesinde netleştirmemiz gereken kararlar ve ticari etkisi olan birkaç kritik blokajımız var.</a:t>
            </a:r>
          </a:p>
          <a:p>
            <a:endParaRPr lang="tr-TR" dirty="0"/>
          </a:p>
          <a:p>
            <a:r>
              <a:rPr lang="tr-TR" dirty="0"/>
              <a:t>Amacım bugün bu kararları netleştirip, önümüzdeki hafta projeleri sahaya indirecek aksiyonları kilitlemek.</a:t>
            </a:r>
          </a:p>
          <a:p>
            <a:r>
              <a:rPr lang="tr-TR" dirty="0"/>
              <a:t>Önce yönetim kararı gerektiren başlıklarla başlamak istiyorum.</a:t>
            </a:r>
          </a:p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AD3C499-3595-CCC1-23A0-643CEBE9E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E6B70-B639-4C88-9928-24B709A4F60C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75102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C9F32-FFD4-8FDA-5F38-B7E60E929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D3BE366B-E847-B6F6-55B3-F22321A1C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4623EA8D-F666-31D0-6814-6F0949DA7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/>
              <a:t>Detaylara geçmeden önce, ilerlemeyi doğrudan etkileyen karar verilmesi gereken başlıklarını paylaşmak istiyorum.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1545DF2-272F-D968-CC05-FC295D7B6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5E6B70-B639-4C88-9928-24B709A4F60C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1330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17A8E-374B-1CA8-E858-42855924A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35B38282-63E4-AF07-81A4-EA29B36CC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355762E7-2D9F-BD1A-5040-AB0DF57B5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D3F34D9-E356-D896-DE4F-0B29A42C2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30FD6-40EA-46E8-A917-71F4ACFE219B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41183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7B08E-43ED-247E-2DD3-2D35DEB3A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584FC5FC-8B73-017F-0A82-4681616F1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B55EA018-F5FF-D30A-848F-557FEA73F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C78191B-5273-E7F6-86F7-F296090508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30FD6-40EA-46E8-A917-71F4ACFE219B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61280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1B260-D2DE-39A6-7797-B968DD228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06AEF3F4-4C33-36EA-B09F-580A56BA0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E19D27A1-5DA0-6F3C-A9F5-49DB09ED9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839EDC3-E4E6-512B-239A-C6BA439F1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30FD6-40EA-46E8-A917-71F4ACFE219B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4869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E5D2A-11BB-EF58-F495-56EFBD804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A5635231-73FA-ABC1-FF44-C37F16C50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69B6D8FD-F9F8-4429-F68C-A1154B241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933EE18-1567-4154-5B4C-2A0B874C8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30FD6-40EA-46E8-A917-71F4ACFE219B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937152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746BF-68A6-D0C8-A3FC-1D5A5EA48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CD2B4409-7A2C-9DDC-7080-77D696A88E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91DFCE23-347E-1CE4-578E-A1F9648F3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89EA644-A2E3-D736-BEBE-92CB6ACA9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30FD6-40EA-46E8-A917-71F4ACFE219B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44603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5BCFA-020C-D3FA-7B8A-C790CB926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51963207-6965-F034-93BE-EE22D08D0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946A2AA4-F3F6-1FE0-2EA4-405514261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8E5063B-6983-A996-D373-F6F8814F5E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30FD6-40EA-46E8-A917-71F4ACFE219B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84024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5237E-9FF0-4B58-4908-88874CEA9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FBE7F40A-8DA1-8DBC-F18F-CCEE49377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B1BC9F50-A448-6B4D-3F5B-6A27FEF65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4C64B13-C191-C321-182D-7963743F7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30FD6-40EA-46E8-A917-71F4ACFE219B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4382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994C1E19-DCF5-7105-6E26-16B611B9A8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53225" y="1779588"/>
            <a:ext cx="4848225" cy="2253528"/>
          </a:xfrm>
          <a:prstGeom prst="roundRect">
            <a:avLst>
              <a:gd name="adj" fmla="val 12653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10E40C1A-137B-6549-A918-2C7CE1DD12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53225" y="4289217"/>
            <a:ext cx="2290171" cy="1139826"/>
          </a:xfrm>
          <a:prstGeom prst="roundRect">
            <a:avLst>
              <a:gd name="adj" fmla="val 22681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231F7802-6C9F-79AA-0CE9-D16F82B260C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368417" y="4470441"/>
            <a:ext cx="233793" cy="233793"/>
          </a:xfrm>
          <a:prstGeom prst="ellipse">
            <a:avLst/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.</a:t>
            </a:r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7DEDE0-AB85-32A3-53DE-0A335F89BC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578984" y="4470441"/>
            <a:ext cx="233793" cy="233793"/>
          </a:xfrm>
          <a:prstGeom prst="ellipse">
            <a:avLst/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.</a:t>
            </a:r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DC8A793-E967-5B04-E93A-131C83B8E4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789551" y="4470441"/>
            <a:ext cx="233793" cy="233793"/>
          </a:xfrm>
          <a:prstGeom prst="ellipse">
            <a:avLst/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.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13FA5F2-4AC1-BCBB-F961-4296DB56BC2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000119" y="4470441"/>
            <a:ext cx="233793" cy="233793"/>
          </a:xfrm>
          <a:prstGeom prst="ellipse">
            <a:avLst/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843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FA3AC5AC-2E34-D25A-D00B-66A330BFB2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75438" y="1791422"/>
            <a:ext cx="3017837" cy="3760066"/>
          </a:xfrm>
          <a:prstGeom prst="roundRect">
            <a:avLst>
              <a:gd name="adj" fmla="val 9513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16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4C69048A-8AAB-548E-0612-F24D03E497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3900" y="1905000"/>
            <a:ext cx="3017838" cy="3759200"/>
          </a:xfrm>
          <a:prstGeom prst="roundRect">
            <a:avLst>
              <a:gd name="adj" fmla="val 10197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89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34B92B39-1111-BCB5-0EAA-95054CB31A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3900" y="1828800"/>
            <a:ext cx="2305050" cy="3324225"/>
          </a:xfrm>
          <a:prstGeom prst="roundRect">
            <a:avLst>
              <a:gd name="adj" fmla="val 9780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C5CE7814-90C6-5978-6555-4E5EE20B6B4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71422" y="2819400"/>
            <a:ext cx="2305050" cy="2333625"/>
          </a:xfrm>
          <a:prstGeom prst="roundRect">
            <a:avLst>
              <a:gd name="adj" fmla="val 9780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AC96D84-35D0-BC49-FB55-1B58B6AD406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18946" y="2819400"/>
            <a:ext cx="2305050" cy="2333625"/>
          </a:xfrm>
          <a:prstGeom prst="roundRect">
            <a:avLst>
              <a:gd name="adj" fmla="val 9780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EAF95974-BA96-0130-254F-9657848555D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74992" y="2819400"/>
            <a:ext cx="2305050" cy="2333625"/>
          </a:xfrm>
          <a:prstGeom prst="roundRect">
            <a:avLst>
              <a:gd name="adj" fmla="val 9780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48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BAFC5674-A271-B3AE-246C-0EB85D5880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0713" y="1620838"/>
            <a:ext cx="1836737" cy="1498600"/>
          </a:xfrm>
          <a:prstGeom prst="roundRect">
            <a:avLst>
              <a:gd name="adj" fmla="val 12642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233BC360-CCEE-557F-EC48-075A6DFF26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59265" y="1620838"/>
            <a:ext cx="1836737" cy="1498600"/>
          </a:xfrm>
          <a:prstGeom prst="roundRect">
            <a:avLst>
              <a:gd name="adj" fmla="val 12642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7A8E1469-1FF9-A37F-A60C-8853C1C0563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97583" y="1620838"/>
            <a:ext cx="1836737" cy="1498600"/>
          </a:xfrm>
          <a:prstGeom prst="roundRect">
            <a:avLst>
              <a:gd name="adj" fmla="val 12642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A3F9EB11-6427-2804-835E-5C8368FC770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13439" y="4002441"/>
            <a:ext cx="1836737" cy="1498600"/>
          </a:xfrm>
          <a:prstGeom prst="roundRect">
            <a:avLst>
              <a:gd name="adj" fmla="val 12642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2F91C4B8-8DA0-CCAB-F953-A8D92445B8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4655" y="4002441"/>
            <a:ext cx="1836737" cy="1498600"/>
          </a:xfrm>
          <a:prstGeom prst="roundRect">
            <a:avLst>
              <a:gd name="adj" fmla="val 12642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289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7F6780E-B235-33E6-3E1B-0C7FF48486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204325" y="3490913"/>
            <a:ext cx="2366963" cy="2316162"/>
          </a:xfrm>
          <a:prstGeom prst="roundRect">
            <a:avLst>
              <a:gd name="adj" fmla="val 12143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16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B23B2C1-1F87-F70E-35A7-4933A60D33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51775" y="4319588"/>
            <a:ext cx="3719513" cy="1785937"/>
          </a:xfrm>
          <a:prstGeom prst="roundRect">
            <a:avLst>
              <a:gd name="adj" fmla="val 12400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68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A59D78E-D3AB-92B3-11E1-1AEFE8B91F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62275" y="1606550"/>
            <a:ext cx="2622550" cy="2178050"/>
          </a:xfrm>
          <a:prstGeom prst="roundRect">
            <a:avLst>
              <a:gd name="adj" fmla="val 11857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0EE1EA7-60A5-0799-E176-FCCCFCE7F51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0481" y="1606550"/>
            <a:ext cx="1995096" cy="4086514"/>
          </a:xfrm>
          <a:prstGeom prst="roundRect">
            <a:avLst>
              <a:gd name="adj" fmla="val 11857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92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14CE8E5-82B0-F23F-56B9-FD34D596643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66775" y="5338763"/>
            <a:ext cx="352425" cy="352425"/>
          </a:xfrm>
          <a:prstGeom prst="ellipse">
            <a:avLst/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.</a:t>
            </a:r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9A4144F7-CE11-CA33-9770-F14A9E0590E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242261" y="5338763"/>
            <a:ext cx="352425" cy="352425"/>
          </a:xfrm>
          <a:prstGeom prst="ellipse">
            <a:avLst/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.</a:t>
            </a:r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198496F4-4673-37E9-BB53-19F8E2DECC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644569" y="5338763"/>
            <a:ext cx="352425" cy="352425"/>
          </a:xfrm>
          <a:prstGeom prst="ellipse">
            <a:avLst/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95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688F01-637F-91CF-C136-06C809991B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9125" y="4211638"/>
            <a:ext cx="2620963" cy="1620837"/>
          </a:xfrm>
          <a:prstGeom prst="roundRect">
            <a:avLst>
              <a:gd name="adj" fmla="val 11378"/>
            </a:avLst>
          </a:prstGeom>
          <a:pattFill prst="pct3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0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4213C9A-63F5-0269-2FFC-7C0A7FFF9C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78700" y="1808163"/>
            <a:ext cx="3684588" cy="1620837"/>
          </a:xfrm>
          <a:prstGeom prst="roundRect">
            <a:avLst>
              <a:gd name="adj" fmla="val 13533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82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DCFD907F-BAB3-CBED-6D44-CC3B6723B0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0713" y="1604963"/>
            <a:ext cx="4560887" cy="1824037"/>
          </a:xfrm>
          <a:prstGeom prst="roundRect">
            <a:avLst>
              <a:gd name="adj" fmla="val 14230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72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F76D4850-6408-0417-90A0-B7C64755DA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84650" y="1604963"/>
            <a:ext cx="2363788" cy="3216275"/>
          </a:xfrm>
          <a:prstGeom prst="roundRect">
            <a:avLst>
              <a:gd name="adj" fmla="val 12839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ACFE13D8-4F8E-A90A-23A2-A55C29B2FBF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84650" y="4969164"/>
            <a:ext cx="2363788" cy="1209964"/>
          </a:xfrm>
          <a:prstGeom prst="roundRect">
            <a:avLst>
              <a:gd name="adj" fmla="val 23545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79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8F0B307-191D-C60A-B31D-CB2A80AA7B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3101975"/>
            <a:ext cx="2633663" cy="2801938"/>
          </a:xfrm>
          <a:prstGeom prst="roundRect">
            <a:avLst>
              <a:gd name="adj" fmla="val 6540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00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B1367BA8-1550-C72A-0588-897FBDE8012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8488" y="1814513"/>
            <a:ext cx="2633662" cy="4089400"/>
          </a:xfrm>
          <a:prstGeom prst="roundRect">
            <a:avLst>
              <a:gd name="adj" fmla="val 7023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14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6EE1DA1-B364-9B82-442D-7C70D841A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90613" y="1604962"/>
            <a:ext cx="2451100" cy="1323976"/>
          </a:xfrm>
          <a:prstGeom prst="roundRect">
            <a:avLst>
              <a:gd name="adj" fmla="val 13070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24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0D0BACA-C17A-C622-2762-07BFC64F4E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95400" y="3341688"/>
            <a:ext cx="2451100" cy="1323975"/>
          </a:xfrm>
          <a:prstGeom prst="roundRect">
            <a:avLst>
              <a:gd name="adj" fmla="val 19785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F2B23EF8-DF0A-AC99-A07E-63E0C5E583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990407" y="3341688"/>
            <a:ext cx="2451100" cy="1323975"/>
          </a:xfrm>
          <a:prstGeom prst="roundRect">
            <a:avLst>
              <a:gd name="adj" fmla="val 19785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8A4D8A4-99A5-C24E-639F-3F02D9D9D9E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95050" y="4952589"/>
            <a:ext cx="5146457" cy="1905411"/>
          </a:xfrm>
          <a:prstGeom prst="round2SameRect">
            <a:avLst>
              <a:gd name="adj1" fmla="val 19866"/>
              <a:gd name="adj2" fmla="val 0"/>
            </a:avLst>
          </a:prstGeom>
          <a:pattFill prst="pct25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223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AA6D376-490F-4BFF-B177-5B1FD7EF52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278780"/>
            <a:ext cx="5824654" cy="6300439"/>
          </a:xfrm>
          <a:custGeom>
            <a:avLst/>
            <a:gdLst>
              <a:gd name="connsiteX0" fmla="*/ 0 w 5905500"/>
              <a:gd name="connsiteY0" fmla="*/ 0 h 6502400"/>
              <a:gd name="connsiteX1" fmla="*/ 5905500 w 5905500"/>
              <a:gd name="connsiteY1" fmla="*/ 0 h 6502400"/>
              <a:gd name="connsiteX2" fmla="*/ 5905500 w 5905500"/>
              <a:gd name="connsiteY2" fmla="*/ 6502400 h 6502400"/>
              <a:gd name="connsiteX3" fmla="*/ 2952750 w 5905500"/>
              <a:gd name="connsiteY3" fmla="*/ 6502400 h 6502400"/>
              <a:gd name="connsiteX4" fmla="*/ 0 w 5905500"/>
              <a:gd name="connsiteY4" fmla="*/ 3549650 h 650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05500" h="6502400">
                <a:moveTo>
                  <a:pt x="0" y="0"/>
                </a:moveTo>
                <a:lnTo>
                  <a:pt x="5905500" y="0"/>
                </a:lnTo>
                <a:lnTo>
                  <a:pt x="5905500" y="6502400"/>
                </a:lnTo>
                <a:lnTo>
                  <a:pt x="2952750" y="6502400"/>
                </a:lnTo>
                <a:cubicBezTo>
                  <a:pt x="1321991" y="6502400"/>
                  <a:pt x="0" y="5180409"/>
                  <a:pt x="0" y="354965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32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7A42C45-F108-47CA-87A5-576E7814BC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1328182"/>
            <a:ext cx="5564789" cy="3897868"/>
          </a:xfrm>
          <a:custGeom>
            <a:avLst/>
            <a:gdLst>
              <a:gd name="connsiteX0" fmla="*/ 0 w 5564789"/>
              <a:gd name="connsiteY0" fmla="*/ 0 h 3897868"/>
              <a:gd name="connsiteX1" fmla="*/ 3615855 w 5564789"/>
              <a:gd name="connsiteY1" fmla="*/ 0 h 3897868"/>
              <a:gd name="connsiteX2" fmla="*/ 5564789 w 5564789"/>
              <a:gd name="connsiteY2" fmla="*/ 1948934 h 3897868"/>
              <a:gd name="connsiteX3" fmla="*/ 3615855 w 5564789"/>
              <a:gd name="connsiteY3" fmla="*/ 3897868 h 3897868"/>
              <a:gd name="connsiteX4" fmla="*/ 0 w 5564789"/>
              <a:gd name="connsiteY4" fmla="*/ 3897868 h 389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4789" h="3897868">
                <a:moveTo>
                  <a:pt x="0" y="0"/>
                </a:moveTo>
                <a:lnTo>
                  <a:pt x="3615855" y="0"/>
                </a:lnTo>
                <a:cubicBezTo>
                  <a:pt x="4692222" y="0"/>
                  <a:pt x="5564789" y="872567"/>
                  <a:pt x="5564789" y="1948934"/>
                </a:cubicBezTo>
                <a:cubicBezTo>
                  <a:pt x="5564789" y="3025301"/>
                  <a:pt x="4692222" y="3897868"/>
                  <a:pt x="3615855" y="3897868"/>
                </a:cubicBezTo>
                <a:lnTo>
                  <a:pt x="0" y="3897868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1996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87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C84E1B"/>
          </a:solidFill>
          <a:ln w="12700">
            <a:solidFill>
              <a:srgbClr val="C84E1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r"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4304348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48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rkaplan copy.png" descr="arkaplan copy.png">
            <a:extLst>
              <a:ext uri="{FF2B5EF4-FFF2-40B4-BE49-F238E27FC236}">
                <a16:creationId xmlns:a16="http://schemas.microsoft.com/office/drawing/2014/main" id="{30B6A21D-879B-40AF-781E-D8DCB71FCACE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rcRect b="10511"/>
          <a:stretch>
            <a:fillRect/>
          </a:stretch>
        </p:blipFill>
        <p:spPr>
          <a:xfrm>
            <a:off x="0" y="5081115"/>
            <a:ext cx="2990850" cy="1776885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85F4F10-B12E-D5CC-0DF6-257414CE52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l="24079" t="8539" r="23766" b="8539"/>
          <a:stretch>
            <a:fillRect/>
          </a:stretch>
        </p:blipFill>
        <p:spPr>
          <a:xfrm>
            <a:off x="10845579" y="6371160"/>
            <a:ext cx="1165465" cy="37011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2F26D9B-06AD-C728-180F-A84B84742F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23288" r="55685"/>
          <a:stretch>
            <a:fillRect/>
          </a:stretch>
        </p:blipFill>
        <p:spPr>
          <a:xfrm>
            <a:off x="2489200" y="2708"/>
            <a:ext cx="7213600" cy="685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772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4">
            <a:extLst>
              <a:ext uri="{FF2B5EF4-FFF2-40B4-BE49-F238E27FC236}">
                <a16:creationId xmlns:a16="http://schemas.microsoft.com/office/drawing/2014/main" id="{B13A1C8F-085D-5285-37D3-2903AA25511C}"/>
              </a:ext>
            </a:extLst>
          </p:cNvPr>
          <p:cNvSpPr txBox="1"/>
          <p:nvPr/>
        </p:nvSpPr>
        <p:spPr>
          <a:xfrm>
            <a:off x="71321" y="4327511"/>
            <a:ext cx="7482004" cy="115416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tr-TR" sz="2700" b="1" dirty="0">
                <a:solidFill>
                  <a:schemeClr val="bg1">
                    <a:lumMod val="50000"/>
                  </a:schemeClr>
                </a:solidFill>
              </a:rPr>
              <a:t>PAX </a:t>
            </a:r>
            <a:r>
              <a:rPr lang="tr-TR" sz="2700" b="1" err="1">
                <a:solidFill>
                  <a:schemeClr val="bg1">
                    <a:lumMod val="50000"/>
                  </a:schemeClr>
                </a:solidFill>
              </a:rPr>
              <a:t>Retail</a:t>
            </a:r>
            <a:r>
              <a:rPr lang="tr-TR" sz="2700" b="1" dirty="0">
                <a:solidFill>
                  <a:schemeClr val="bg1">
                    <a:lumMod val="50000"/>
                  </a:schemeClr>
                </a:solidFill>
              </a:rPr>
              <a:t> Haftalık Yönetim Güncellemesi</a:t>
            </a:r>
          </a:p>
          <a:p>
            <a:r>
              <a:rPr lang="tr-TR">
                <a:solidFill>
                  <a:schemeClr val="bg1">
                    <a:lumMod val="50000"/>
                  </a:schemeClr>
                </a:solidFill>
              </a:rPr>
              <a:t>13.04.2026 – 17.04.2026</a:t>
            </a:r>
            <a:endParaRPr lang="tr-TR">
              <a:solidFill>
                <a:schemeClr val="bg1">
                  <a:lumMod val="50000"/>
                </a:schemeClr>
              </a:solidFill>
              <a:ea typeface="Calibri"/>
              <a:cs typeface="Calibri"/>
            </a:endParaRPr>
          </a:p>
          <a:p>
            <a:endParaRPr lang="tr-TR" sz="2400" dirty="0"/>
          </a:p>
        </p:txBody>
      </p:sp>
      <p:pic>
        <p:nvPicPr>
          <p:cNvPr id="8" name="Resim Yer Tutucusu 7">
            <a:extLst>
              <a:ext uri="{FF2B5EF4-FFF2-40B4-BE49-F238E27FC236}">
                <a16:creationId xmlns:a16="http://schemas.microsoft.com/office/drawing/2014/main" id="{3AD401FF-C22C-C387-2351-48446FF86A6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09" r="19909"/>
          <a:stretch/>
        </p:blipFill>
        <p:spPr>
          <a:xfrm>
            <a:off x="6367346" y="0"/>
            <a:ext cx="5824654" cy="6300439"/>
          </a:xfr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3A1A36D-1AFB-FF52-500E-1FB6D05513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4079" t="8539" r="23766" b="8539"/>
          <a:stretch>
            <a:fillRect/>
          </a:stretch>
        </p:blipFill>
        <p:spPr>
          <a:xfrm>
            <a:off x="1130059" y="2501660"/>
            <a:ext cx="3830129" cy="121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71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BC913-0C8B-EE3F-FDFC-B2A568F02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47">
            <a:extLst>
              <a:ext uri="{FF2B5EF4-FFF2-40B4-BE49-F238E27FC236}">
                <a16:creationId xmlns:a16="http://schemas.microsoft.com/office/drawing/2014/main" id="{3CDBF180-F779-D40B-7152-F905E4FB1F07}"/>
              </a:ext>
            </a:extLst>
          </p:cNvPr>
          <p:cNvSpPr/>
          <p:nvPr/>
        </p:nvSpPr>
        <p:spPr>
          <a:xfrm>
            <a:off x="382338" y="476250"/>
            <a:ext cx="11329846" cy="5825690"/>
          </a:xfrm>
          <a:prstGeom prst="roundRect">
            <a:avLst>
              <a:gd name="adj" fmla="val 8191"/>
            </a:avLst>
          </a:prstGeom>
          <a:gradFill>
            <a:gsLst>
              <a:gs pos="9000">
                <a:srgbClr val="F7F9FF">
                  <a:lumMod val="100000"/>
                </a:srgbClr>
              </a:gs>
              <a:gs pos="100000">
                <a:schemeClr val="bg1"/>
              </a:gs>
            </a:gsLst>
            <a:lin ang="8100000" scaled="0"/>
          </a:gradFill>
          <a:ln>
            <a:noFill/>
          </a:ln>
          <a:effectLst>
            <a:outerShdw blurRad="152400" dist="38100" dir="2700000" algn="tl" rotWithShape="0">
              <a:srgbClr val="2867F4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50000"/>
              </a:lnSpc>
              <a:defRPr/>
            </a:pPr>
            <a:endParaRPr lang="tr-TR" sz="1600" dirty="0">
              <a:solidFill>
                <a:schemeClr val="tx1"/>
              </a:solidFill>
              <a:highlight>
                <a:srgbClr val="FFFF00"/>
              </a:highlight>
              <a:ea typeface="+mn-lt"/>
              <a:cs typeface="+mn-lt"/>
            </a:endParaRPr>
          </a:p>
          <a:p>
            <a:pPr>
              <a:lnSpc>
                <a:spcPct val="150000"/>
              </a:lnSpc>
              <a:defRPr/>
            </a:pPr>
            <a:endParaRPr lang="tr-TR" sz="1500" dirty="0">
              <a:solidFill>
                <a:schemeClr val="tx1"/>
              </a:solidFill>
              <a:highlight>
                <a:srgbClr val="FFFF00"/>
              </a:highlight>
              <a:ea typeface="Calibri"/>
              <a:cs typeface="Calibri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69FD382C-9243-CDA4-5482-622ED6CB86D9}"/>
              </a:ext>
            </a:extLst>
          </p:cNvPr>
          <p:cNvSpPr txBox="1"/>
          <p:nvPr/>
        </p:nvSpPr>
        <p:spPr>
          <a:xfrm>
            <a:off x="382338" y="38230"/>
            <a:ext cx="1127925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tr-TR" sz="3200" dirty="0">
                <a:gradFill>
                  <a:gsLst>
                    <a:gs pos="0">
                      <a:srgbClr val="07055B"/>
                    </a:gs>
                    <a:gs pos="100000">
                      <a:srgbClr val="11A1F3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İlerlemeler, İlk Temaslar ve Tamamlananlar </a:t>
            </a:r>
          </a:p>
        </p:txBody>
      </p:sp>
      <p:pic>
        <p:nvPicPr>
          <p:cNvPr id="15" name="Graphique 14" descr="Office Worker">
            <a:extLst>
              <a:ext uri="{FF2B5EF4-FFF2-40B4-BE49-F238E27FC236}">
                <a16:creationId xmlns:a16="http://schemas.microsoft.com/office/drawing/2014/main" id="{5BBA8E96-647B-BC40-FFF8-71979D57CD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1703" y="180816"/>
            <a:ext cx="682663" cy="682663"/>
          </a:xfrm>
          <a:prstGeom prst="rect">
            <a:avLst/>
          </a:prstGeom>
        </p:spPr>
      </p:pic>
      <p:sp>
        <p:nvSpPr>
          <p:cNvPr id="2" name="Eksi İşareti 1">
            <a:extLst>
              <a:ext uri="{FF2B5EF4-FFF2-40B4-BE49-F238E27FC236}">
                <a16:creationId xmlns:a16="http://schemas.microsoft.com/office/drawing/2014/main" id="{4E4FF904-349E-33DF-04EC-0CE062AA36A5}"/>
              </a:ext>
            </a:extLst>
          </p:cNvPr>
          <p:cNvSpPr/>
          <p:nvPr/>
        </p:nvSpPr>
        <p:spPr>
          <a:xfrm>
            <a:off x="-711082" y="620372"/>
            <a:ext cx="9840036" cy="284937"/>
          </a:xfrm>
          <a:prstGeom prst="mathMinus">
            <a:avLst/>
          </a:prstGeom>
          <a:solidFill>
            <a:srgbClr val="92D050"/>
          </a:solidFill>
          <a:ln>
            <a:solidFill>
              <a:srgbClr val="0A9FD4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15A87F-63C1-F10F-4DFB-76B1347931C4}"/>
              </a:ext>
            </a:extLst>
          </p:cNvPr>
          <p:cNvSpPr txBox="1"/>
          <p:nvPr/>
        </p:nvSpPr>
        <p:spPr>
          <a:xfrm>
            <a:off x="505112" y="720893"/>
            <a:ext cx="11181776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tr-TR" b="1" dirty="0">
              <a:ea typeface="Calibri"/>
              <a:cs typeface="Calibri"/>
            </a:endParaRPr>
          </a:p>
          <a:p>
            <a:pPr>
              <a:lnSpc>
                <a:spcPct val="150000"/>
              </a:lnSpc>
              <a:defRPr/>
            </a:pPr>
            <a:r>
              <a:rPr lang="tr-TR" b="1" dirty="0">
                <a:ea typeface="Calibri"/>
                <a:cs typeface="Calibri"/>
              </a:rPr>
              <a:t>Onur Hipermarketleri: </a:t>
            </a:r>
            <a:r>
              <a:rPr lang="tr-TR" dirty="0">
                <a:ea typeface="Calibri"/>
                <a:cs typeface="Calibri"/>
              </a:rPr>
              <a:t> 32 mağaza / 108 kasa; fırsat kapanmadı. </a:t>
            </a:r>
            <a:r>
              <a:rPr lang="tr-TR" dirty="0" err="1">
                <a:ea typeface="Calibri"/>
                <a:cs typeface="Calibri"/>
              </a:rPr>
              <a:t>Posback</a:t>
            </a:r>
            <a:r>
              <a:rPr lang="tr-TR" dirty="0">
                <a:ea typeface="Calibri"/>
                <a:cs typeface="Calibri"/>
              </a:rPr>
              <a:t> entegrasyonu ve yemek çeki gelişmelerine bağlı yeniden değerlendirilecek. </a:t>
            </a:r>
          </a:p>
          <a:p>
            <a:pPr>
              <a:lnSpc>
                <a:spcPct val="150000"/>
              </a:lnSpc>
              <a:defRPr/>
            </a:pPr>
            <a:r>
              <a:rPr lang="tr-TR" b="1" dirty="0">
                <a:ea typeface="Calibri"/>
                <a:cs typeface="Calibri"/>
              </a:rPr>
              <a:t>Altun Market: </a:t>
            </a:r>
            <a:r>
              <a:rPr lang="tr-TR" dirty="0">
                <a:ea typeface="Calibri"/>
                <a:cs typeface="Calibri"/>
              </a:rPr>
              <a:t>40 mağaza / 100 kasa; </a:t>
            </a:r>
            <a:r>
              <a:rPr lang="tr-TR" dirty="0" err="1">
                <a:ea typeface="Calibri"/>
                <a:cs typeface="Calibri"/>
              </a:rPr>
              <a:t>Pavo</a:t>
            </a:r>
            <a:r>
              <a:rPr lang="tr-TR" dirty="0">
                <a:ea typeface="Calibri"/>
                <a:cs typeface="Calibri"/>
              </a:rPr>
              <a:t> VUK507 kullanıyor. entegrasyon yeni tamamlandığı için kısa dönemde zor. </a:t>
            </a:r>
            <a:endParaRPr lang="tr-TR" b="1" dirty="0"/>
          </a:p>
          <a:p>
            <a:pPr>
              <a:lnSpc>
                <a:spcPct val="150000"/>
              </a:lnSpc>
            </a:pPr>
            <a:r>
              <a:rPr lang="tr-TR" b="1" dirty="0"/>
              <a:t>Anteplioğlu:</a:t>
            </a:r>
            <a:r>
              <a:rPr lang="tr-TR" dirty="0"/>
              <a:t> 17 mağaza / 35 kasa; kısa vadede fırsat yok, orta vadede ilişki korunacak.</a:t>
            </a:r>
            <a:endParaRPr lang="tr-TR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tr-TR" b="1" dirty="0"/>
              <a:t>Biçen Market:</a:t>
            </a:r>
            <a:r>
              <a:rPr lang="tr-TR" dirty="0"/>
              <a:t> 34 mağaza / 128 kasa; </a:t>
            </a:r>
            <a:r>
              <a:rPr lang="tr-TR" dirty="0" err="1"/>
              <a:t>Posback</a:t>
            </a:r>
            <a:r>
              <a:rPr lang="tr-TR" dirty="0"/>
              <a:t> entegrasyonu ve yemek çeki gelişmelerine bağlı yeniden değerlendirilecek.  </a:t>
            </a:r>
            <a:endParaRPr lang="tr-TR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tr-TR" b="1" dirty="0" err="1"/>
              <a:t>Aypa</a:t>
            </a:r>
            <a:r>
              <a:rPr lang="tr-TR" b="1" dirty="0"/>
              <a:t> Market:</a:t>
            </a:r>
            <a:r>
              <a:rPr lang="tr-TR" dirty="0"/>
              <a:t> 10 mağaza / 38 kasa; kısa vadede fırsat yok, orta vadede ilişki korunacak.</a:t>
            </a:r>
            <a:endParaRPr lang="en-US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tr-TR" b="1" dirty="0"/>
              <a:t>Alpet Petrolleri:</a:t>
            </a:r>
            <a:r>
              <a:rPr lang="tr-TR" dirty="0"/>
              <a:t> 7 mağaza / 7 kasa / 350 bayi; </a:t>
            </a:r>
            <a:r>
              <a:rPr lang="tr-TR" dirty="0">
                <a:ea typeface="+mn-lt"/>
                <a:cs typeface="+mn-lt"/>
              </a:rPr>
              <a:t>Kısa vadede fırsata dönüşmesi beklenmiyor. </a:t>
            </a:r>
            <a:r>
              <a:rPr lang="tr-TR" dirty="0" err="1">
                <a:ea typeface="+mn-lt"/>
                <a:cs typeface="+mn-lt"/>
              </a:rPr>
              <a:t>Unattended</a:t>
            </a:r>
            <a:r>
              <a:rPr lang="tr-TR" dirty="0">
                <a:ea typeface="+mn-lt"/>
                <a:cs typeface="+mn-lt"/>
              </a:rPr>
              <a:t> çözümler tarafında takip sürdürülecek.</a:t>
            </a:r>
          </a:p>
          <a:p>
            <a:pPr>
              <a:lnSpc>
                <a:spcPct val="150000"/>
              </a:lnSpc>
            </a:pPr>
            <a:r>
              <a:rPr lang="tr-TR" b="1" dirty="0"/>
              <a:t>Grosper:</a:t>
            </a:r>
            <a:r>
              <a:rPr lang="tr-TR" dirty="0"/>
              <a:t> 26 şube / 100 kasa; </a:t>
            </a:r>
            <a:r>
              <a:rPr lang="tr-TR" dirty="0" err="1"/>
              <a:t>Enpos</a:t>
            </a:r>
            <a:r>
              <a:rPr lang="tr-TR" dirty="0"/>
              <a:t> ve yemek çekleri entegrasyonu sonrası tekrar ziyaret. </a:t>
            </a:r>
          </a:p>
          <a:p>
            <a:pPr>
              <a:lnSpc>
                <a:spcPct val="150000"/>
              </a:lnSpc>
            </a:pPr>
            <a:r>
              <a:rPr lang="tr-TR" b="1" dirty="0"/>
              <a:t>Showmar:</a:t>
            </a:r>
            <a:r>
              <a:rPr lang="tr-TR" dirty="0"/>
              <a:t> 6 mağaza / 26 kasa; yeni </a:t>
            </a:r>
            <a:r>
              <a:rPr lang="tr-TR" dirty="0" err="1"/>
              <a:t>Pavo</a:t>
            </a:r>
            <a:r>
              <a:rPr lang="tr-TR" dirty="0"/>
              <a:t> geçişi nedeniyle değişim motivasyonu düşük. </a:t>
            </a:r>
            <a:endParaRPr lang="tr-TR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</p:txBody>
      </p:sp>
      <p:pic>
        <p:nvPicPr>
          <p:cNvPr id="8" name="Grafik 7" descr="Rozet 8 düz dolguyla">
            <a:extLst>
              <a:ext uri="{FF2B5EF4-FFF2-40B4-BE49-F238E27FC236}">
                <a16:creationId xmlns:a16="http://schemas.microsoft.com/office/drawing/2014/main" id="{31497FAD-3F9E-30CD-B382-E7F2A87C39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40365" y="718675"/>
            <a:ext cx="373268" cy="37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82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4BADD-737D-6804-6D30-FA94F07D0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47">
            <a:extLst>
              <a:ext uri="{FF2B5EF4-FFF2-40B4-BE49-F238E27FC236}">
                <a16:creationId xmlns:a16="http://schemas.microsoft.com/office/drawing/2014/main" id="{E89A5833-AD95-FD26-E7A1-917288CD4BAD}"/>
              </a:ext>
            </a:extLst>
          </p:cNvPr>
          <p:cNvSpPr/>
          <p:nvPr/>
        </p:nvSpPr>
        <p:spPr>
          <a:xfrm>
            <a:off x="456373" y="884565"/>
            <a:ext cx="11279254" cy="5387688"/>
          </a:xfrm>
          <a:prstGeom prst="roundRect">
            <a:avLst>
              <a:gd name="adj" fmla="val 8191"/>
            </a:avLst>
          </a:prstGeom>
          <a:gradFill>
            <a:gsLst>
              <a:gs pos="9000">
                <a:srgbClr val="F7F9FF">
                  <a:lumMod val="100000"/>
                </a:srgbClr>
              </a:gs>
              <a:gs pos="100000">
                <a:schemeClr val="bg1"/>
              </a:gs>
            </a:gsLst>
            <a:lin ang="8100000" scaled="0"/>
          </a:gradFill>
          <a:ln>
            <a:noFill/>
          </a:ln>
          <a:effectLst>
            <a:outerShdw blurRad="152400" dist="38100" dir="2700000" algn="tl" rotWithShape="0">
              <a:srgbClr val="2867F4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tr-TR" sz="1900" b="1" dirty="0">
                <a:solidFill>
                  <a:schemeClr val="tx1"/>
                </a:solidFill>
              </a:rPr>
              <a:t>Lee Cooper: </a:t>
            </a:r>
            <a:r>
              <a:rPr lang="tr-TR" sz="1900" dirty="0">
                <a:solidFill>
                  <a:schemeClr val="tx1"/>
                </a:solidFill>
              </a:rPr>
              <a:t>Muafiyet süreci başlatıldı; bayrama kadar yaygınlaşmanın tamamlanması hedefleniyor.</a:t>
            </a:r>
          </a:p>
          <a:p>
            <a:pPr>
              <a:lnSpc>
                <a:spcPct val="150000"/>
              </a:lnSpc>
            </a:pPr>
            <a:r>
              <a:rPr lang="tr-TR" sz="1900" b="1" dirty="0">
                <a:solidFill>
                  <a:schemeClr val="tx1"/>
                </a:solidFill>
              </a:rPr>
              <a:t>Damat </a:t>
            </a:r>
            <a:r>
              <a:rPr lang="tr-TR" sz="1900" b="1" dirty="0" err="1">
                <a:solidFill>
                  <a:schemeClr val="tx1"/>
                </a:solidFill>
              </a:rPr>
              <a:t>Tween</a:t>
            </a:r>
            <a:r>
              <a:rPr lang="tr-TR" sz="1900" b="1" dirty="0">
                <a:solidFill>
                  <a:schemeClr val="tx1"/>
                </a:solidFill>
              </a:rPr>
              <a:t>: </a:t>
            </a:r>
            <a:r>
              <a:rPr lang="tr-TR" sz="1900" dirty="0">
                <a:solidFill>
                  <a:schemeClr val="tx1"/>
                </a:solidFill>
              </a:rPr>
              <a:t>IT onayı olumlu; muafiyet sürecinin tamamlanması bekleniyor.</a:t>
            </a:r>
          </a:p>
          <a:p>
            <a:pPr>
              <a:lnSpc>
                <a:spcPct val="150000"/>
              </a:lnSpc>
            </a:pPr>
            <a:r>
              <a:rPr lang="tr-TR" sz="1900" b="1" dirty="0">
                <a:solidFill>
                  <a:schemeClr val="tx1"/>
                </a:solidFill>
              </a:rPr>
              <a:t>Columbia: </a:t>
            </a:r>
            <a:r>
              <a:rPr lang="tr-TR" sz="1900" dirty="0">
                <a:solidFill>
                  <a:schemeClr val="tx1"/>
                </a:solidFill>
              </a:rPr>
              <a:t>3 mağazada POC devam ediyor; satın alma sürecine geçiş için finans toplantısı planlanıyor.</a:t>
            </a:r>
          </a:p>
          <a:p>
            <a:pPr>
              <a:lnSpc>
                <a:spcPct val="150000"/>
              </a:lnSpc>
            </a:pPr>
            <a:r>
              <a:rPr lang="tr-TR" sz="1900" b="1" dirty="0">
                <a:solidFill>
                  <a:schemeClr val="tx1"/>
                </a:solidFill>
              </a:rPr>
              <a:t>Yves </a:t>
            </a:r>
            <a:r>
              <a:rPr lang="tr-TR" sz="1900" b="1" dirty="0" err="1">
                <a:solidFill>
                  <a:schemeClr val="tx1"/>
                </a:solidFill>
              </a:rPr>
              <a:t>Rocher</a:t>
            </a:r>
            <a:r>
              <a:rPr lang="tr-TR" sz="1900" b="1" dirty="0">
                <a:solidFill>
                  <a:schemeClr val="tx1"/>
                </a:solidFill>
              </a:rPr>
              <a:t>: </a:t>
            </a:r>
            <a:r>
              <a:rPr lang="tr-TR" sz="1900" dirty="0">
                <a:solidFill>
                  <a:schemeClr val="tx1"/>
                </a:solidFill>
              </a:rPr>
              <a:t>A6650 modelimize ilgi var; toplantı takvimi planlanıyor.</a:t>
            </a:r>
          </a:p>
          <a:p>
            <a:pPr>
              <a:lnSpc>
                <a:spcPct val="150000"/>
              </a:lnSpc>
            </a:pPr>
            <a:r>
              <a:rPr lang="tr-TR" sz="1900" b="1" dirty="0">
                <a:solidFill>
                  <a:schemeClr val="tx1"/>
                </a:solidFill>
              </a:rPr>
              <a:t>Mad Parfüm: </a:t>
            </a:r>
            <a:r>
              <a:rPr lang="tr-TR" sz="1900" dirty="0">
                <a:solidFill>
                  <a:schemeClr val="tx1"/>
                </a:solidFill>
              </a:rPr>
              <a:t>Uçtan uca testler tamamlandı; sipariş sürecine geçilmesi bekleniyor.</a:t>
            </a:r>
          </a:p>
          <a:p>
            <a:pPr>
              <a:lnSpc>
                <a:spcPct val="150000"/>
              </a:lnSpc>
            </a:pPr>
            <a:r>
              <a:rPr lang="tr-TR" sz="1900" b="1" dirty="0" err="1">
                <a:solidFill>
                  <a:schemeClr val="tx1"/>
                </a:solidFill>
              </a:rPr>
              <a:t>Sneaks</a:t>
            </a:r>
            <a:r>
              <a:rPr lang="tr-TR" sz="1900" b="1" dirty="0">
                <a:solidFill>
                  <a:schemeClr val="tx1"/>
                </a:solidFill>
              </a:rPr>
              <a:t> </a:t>
            </a:r>
            <a:r>
              <a:rPr lang="tr-TR" sz="1900" b="1" dirty="0" err="1">
                <a:solidFill>
                  <a:schemeClr val="tx1"/>
                </a:solidFill>
              </a:rPr>
              <a:t>Up</a:t>
            </a:r>
            <a:r>
              <a:rPr lang="tr-TR" sz="1900" b="1" dirty="0">
                <a:solidFill>
                  <a:schemeClr val="tx1"/>
                </a:solidFill>
              </a:rPr>
              <a:t>: </a:t>
            </a:r>
            <a:r>
              <a:rPr lang="tr-TR" sz="1900" dirty="0">
                <a:solidFill>
                  <a:schemeClr val="tx1"/>
                </a:solidFill>
              </a:rPr>
              <a:t>Mağaza POC süreci başlatıldı; süreç yakından takip ediliyor.</a:t>
            </a:r>
          </a:p>
          <a:p>
            <a:pPr>
              <a:lnSpc>
                <a:spcPct val="150000"/>
              </a:lnSpc>
            </a:pPr>
            <a:r>
              <a:rPr lang="tr-TR" sz="1900" b="1" dirty="0">
                <a:solidFill>
                  <a:schemeClr val="tx1"/>
                </a:solidFill>
              </a:rPr>
              <a:t>Gusto: </a:t>
            </a:r>
            <a:r>
              <a:rPr lang="tr-TR" sz="1900" dirty="0">
                <a:solidFill>
                  <a:schemeClr val="tx1"/>
                </a:solidFill>
              </a:rPr>
              <a:t>IT toplantısı tamamlandı; muafiyet süreci kapsamında finans görüşmesi planlanıyor.</a:t>
            </a:r>
          </a:p>
          <a:p>
            <a:pPr>
              <a:lnSpc>
                <a:spcPct val="150000"/>
              </a:lnSpc>
            </a:pPr>
            <a:r>
              <a:rPr lang="tr-TR" sz="1900" b="1" dirty="0" err="1">
                <a:solidFill>
                  <a:schemeClr val="tx1"/>
                </a:solidFill>
              </a:rPr>
              <a:t>Suwen</a:t>
            </a:r>
            <a:r>
              <a:rPr lang="tr-TR" sz="1900" b="1" dirty="0">
                <a:solidFill>
                  <a:schemeClr val="tx1"/>
                </a:solidFill>
              </a:rPr>
              <a:t>: </a:t>
            </a:r>
            <a:r>
              <a:rPr lang="tr-TR" sz="1900" dirty="0">
                <a:solidFill>
                  <a:schemeClr val="tx1"/>
                </a:solidFill>
              </a:rPr>
              <a:t>10 adet A80 ve S210 siparişi alındı; konsinye cihaz faturaları ilgili siparişle birlikte kesildi.</a:t>
            </a:r>
          </a:p>
          <a:p>
            <a:pPr>
              <a:lnSpc>
                <a:spcPct val="150000"/>
              </a:lnSpc>
            </a:pPr>
            <a:r>
              <a:rPr lang="tr-TR" sz="1900" b="1" dirty="0" err="1">
                <a:solidFill>
                  <a:schemeClr val="tx1"/>
                </a:solidFill>
              </a:rPr>
              <a:t>Tergan</a:t>
            </a:r>
            <a:r>
              <a:rPr lang="tr-TR" sz="1900" b="1" dirty="0">
                <a:solidFill>
                  <a:schemeClr val="tx1"/>
                </a:solidFill>
              </a:rPr>
              <a:t>: </a:t>
            </a:r>
            <a:r>
              <a:rPr lang="tr-TR" sz="1900" dirty="0">
                <a:solidFill>
                  <a:schemeClr val="tx1"/>
                </a:solidFill>
              </a:rPr>
              <a:t>IT ekibiyle toplantı takvimi oluşturuldu.</a:t>
            </a:r>
          </a:p>
          <a:p>
            <a:pPr>
              <a:lnSpc>
                <a:spcPct val="150000"/>
              </a:lnSpc>
            </a:pPr>
            <a:r>
              <a:rPr lang="tr-TR" sz="1900" b="1" dirty="0">
                <a:solidFill>
                  <a:schemeClr val="tx1"/>
                </a:solidFill>
              </a:rPr>
              <a:t>SPX: </a:t>
            </a:r>
            <a:r>
              <a:rPr lang="tr-TR" sz="1900" dirty="0">
                <a:solidFill>
                  <a:schemeClr val="tx1"/>
                </a:solidFill>
              </a:rPr>
              <a:t>IT ekibiyle toplantı takvimi oluşturuldu.</a:t>
            </a:r>
          </a:p>
          <a:p>
            <a:pPr>
              <a:lnSpc>
                <a:spcPct val="150000"/>
              </a:lnSpc>
              <a:defRPr/>
            </a:pPr>
            <a:endParaRPr lang="tr-TR" sz="15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773901FB-A2D4-A2C6-0FC4-9820746CBEF9}"/>
              </a:ext>
            </a:extLst>
          </p:cNvPr>
          <p:cNvSpPr txBox="1"/>
          <p:nvPr/>
        </p:nvSpPr>
        <p:spPr>
          <a:xfrm>
            <a:off x="382338" y="38230"/>
            <a:ext cx="1127925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tr-TR" sz="3200" dirty="0">
                <a:gradFill>
                  <a:gsLst>
                    <a:gs pos="0">
                      <a:srgbClr val="07055B"/>
                    </a:gs>
                    <a:gs pos="100000">
                      <a:srgbClr val="11A1F3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Nebim Müşterilerindeki Gelişmeler </a:t>
            </a:r>
          </a:p>
        </p:txBody>
      </p:sp>
      <p:pic>
        <p:nvPicPr>
          <p:cNvPr id="15" name="Graphique 14" descr="Office Worker">
            <a:extLst>
              <a:ext uri="{FF2B5EF4-FFF2-40B4-BE49-F238E27FC236}">
                <a16:creationId xmlns:a16="http://schemas.microsoft.com/office/drawing/2014/main" id="{18134CEE-A1F6-4BB8-6D90-8E096AC1AA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8929" y="853173"/>
            <a:ext cx="682663" cy="682663"/>
          </a:xfrm>
          <a:prstGeom prst="rect">
            <a:avLst/>
          </a:prstGeom>
        </p:spPr>
      </p:pic>
      <p:sp>
        <p:nvSpPr>
          <p:cNvPr id="2" name="Eksi İşareti 1">
            <a:extLst>
              <a:ext uri="{FF2B5EF4-FFF2-40B4-BE49-F238E27FC236}">
                <a16:creationId xmlns:a16="http://schemas.microsoft.com/office/drawing/2014/main" id="{EBA9286B-B6FB-C180-2A88-5051D052C1E2}"/>
              </a:ext>
            </a:extLst>
          </p:cNvPr>
          <p:cNvSpPr/>
          <p:nvPr/>
        </p:nvSpPr>
        <p:spPr>
          <a:xfrm>
            <a:off x="-746768" y="476692"/>
            <a:ext cx="9840036" cy="284937"/>
          </a:xfrm>
          <a:prstGeom prst="mathMinus">
            <a:avLst/>
          </a:prstGeom>
          <a:solidFill>
            <a:srgbClr val="92D050"/>
          </a:solidFill>
          <a:ln>
            <a:solidFill>
              <a:srgbClr val="0A9FD4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" name="Grafik 7" descr="Rozet 10 düz dolguyla">
            <a:extLst>
              <a:ext uri="{FF2B5EF4-FFF2-40B4-BE49-F238E27FC236}">
                <a16:creationId xmlns:a16="http://schemas.microsoft.com/office/drawing/2014/main" id="{C6C5B161-04BF-E408-0C36-E1C2948495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57856" y="1216627"/>
            <a:ext cx="442145" cy="44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552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341376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Genel Durum Raporu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7056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Nisan 2026</a:t>
            </a:r>
            <a:endParaRPr lang="en-US" sz="1733" dirty="0"/>
          </a:p>
        </p:txBody>
      </p:sp>
      <p:sp>
        <p:nvSpPr>
          <p:cNvPr id="4" name="Shape 2"/>
          <p:cNvSpPr/>
          <p:nvPr/>
        </p:nvSpPr>
        <p:spPr>
          <a:xfrm>
            <a:off x="487680" y="1645920"/>
            <a:ext cx="2560320" cy="1645920"/>
          </a:xfrm>
          <a:prstGeom prst="roundRect">
            <a:avLst>
              <a:gd name="adj" fmla="val 5926"/>
            </a:avLst>
          </a:prstGeom>
          <a:solidFill>
            <a:srgbClr val="FFFFFF">
              <a:alpha val="85000"/>
            </a:srgbClr>
          </a:solidFill>
          <a:ln w="15240">
            <a:solidFill>
              <a:srgbClr val="CBD8F0"/>
            </a:solidFill>
            <a:prstDash val="solid"/>
          </a:ln>
          <a:effectLst>
            <a:outerShdw blurRad="101600" dist="38100" dir="8100000" algn="bl" rotWithShape="0">
              <a:srgbClr val="1A3A6B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87680" y="1731264"/>
            <a:ext cx="25603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11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87680" y="2560320"/>
            <a:ext cx="2560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Firma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487680" y="2901696"/>
            <a:ext cx="2560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hesap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2800" y="1645920"/>
            <a:ext cx="2560320" cy="1645920"/>
          </a:xfrm>
          <a:prstGeom prst="roundRect">
            <a:avLst>
              <a:gd name="adj" fmla="val 5926"/>
            </a:avLst>
          </a:prstGeom>
          <a:solidFill>
            <a:srgbClr val="FFFFFF">
              <a:alpha val="85000"/>
            </a:srgbClr>
          </a:solidFill>
          <a:ln w="15240">
            <a:solidFill>
              <a:srgbClr val="CBD8F0"/>
            </a:solidFill>
            <a:prstDash val="solid"/>
          </a:ln>
          <a:effectLst>
            <a:outerShdw blurRad="101600" dist="38100" dir="8100000" algn="bl" rotWithShape="0">
              <a:srgbClr val="1A3A6B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352800" y="1731264"/>
            <a:ext cx="25603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11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68.394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52800" y="2560320"/>
            <a:ext cx="2560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POS Adedi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3352800" y="2901696"/>
            <a:ext cx="2560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8882" y="1676400"/>
            <a:ext cx="2560320" cy="1645920"/>
          </a:xfrm>
          <a:prstGeom prst="roundRect">
            <a:avLst>
              <a:gd name="adj" fmla="val 5926"/>
            </a:avLst>
          </a:prstGeom>
          <a:solidFill>
            <a:srgbClr val="FFFFFF">
              <a:alpha val="85000"/>
            </a:srgbClr>
          </a:solidFill>
          <a:ln w="15240">
            <a:solidFill>
              <a:srgbClr val="CBD8F0"/>
            </a:solidFill>
            <a:prstDash val="solid"/>
          </a:ln>
          <a:effectLst>
            <a:outerShdw blurRad="101600" dist="38100" dir="8100000" algn="bl" rotWithShape="0">
              <a:srgbClr val="1A3A6B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217920" y="1731264"/>
            <a:ext cx="25603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11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17920" y="2560320"/>
            <a:ext cx="2560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Devam Eden Proje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6217920" y="2901696"/>
            <a:ext cx="2560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faz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3040" y="1645920"/>
            <a:ext cx="2560320" cy="1645920"/>
          </a:xfrm>
          <a:prstGeom prst="roundRect">
            <a:avLst>
              <a:gd name="adj" fmla="val 5926"/>
            </a:avLst>
          </a:prstGeom>
          <a:solidFill>
            <a:srgbClr val="FFFFFF">
              <a:alpha val="85000"/>
            </a:srgbClr>
          </a:solidFill>
          <a:ln w="15240">
            <a:solidFill>
              <a:srgbClr val="CBD8F0"/>
            </a:solidFill>
            <a:prstDash val="solid"/>
          </a:ln>
          <a:effectLst>
            <a:outerShdw blurRad="101600" dist="38100" dir="8100000" algn="bl" rotWithShape="0">
              <a:srgbClr val="1A3A6B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9083040" y="1731264"/>
            <a:ext cx="25603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11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19.598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083040" y="2560320"/>
            <a:ext cx="2560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POS</a:t>
            </a:r>
            <a:endParaRPr lang="en-US" sz="1333" dirty="0"/>
          </a:p>
        </p:txBody>
      </p:sp>
      <p:sp>
        <p:nvSpPr>
          <p:cNvPr id="19" name="Text 17"/>
          <p:cNvSpPr/>
          <p:nvPr/>
        </p:nvSpPr>
        <p:spPr>
          <a:xfrm>
            <a:off x="9083040" y="2901696"/>
            <a:ext cx="2560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7680" y="3535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Durumu</a:t>
            </a:r>
            <a:endParaRPr lang="en-US" sz="16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365760" y="3901440"/>
          <a:ext cx="5608320" cy="2621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6339840" y="3535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EFT-POS Marka Dağılımı</a:t>
            </a:r>
            <a:endParaRPr lang="en-US" sz="1600" dirty="0"/>
          </a:p>
        </p:txBody>
      </p:sp>
      <p:graphicFrame>
        <p:nvGraphicFramePr>
          <p:cNvPr id="23" name="Chart 1"/>
          <p:cNvGraphicFramePr/>
          <p:nvPr/>
        </p:nvGraphicFramePr>
        <p:xfrm>
          <a:off x="6096000" y="3901440"/>
          <a:ext cx="5730240" cy="2621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34137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Tamamlanan Projeler — 57 Hesap</a:t>
            </a:r>
            <a:endParaRPr lang="en-US" sz="3733" dirty="0"/>
          </a:p>
        </p:txBody>
      </p:sp>
      <p:sp>
        <p:nvSpPr>
          <p:cNvPr id="3" name="Text 1"/>
          <p:cNvSpPr/>
          <p:nvPr/>
        </p:nvSpPr>
        <p:spPr>
          <a:xfrm>
            <a:off x="670560" y="1048512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48.796 POS cihazı — faz bazında kapanan hesaplar</a:t>
            </a:r>
            <a:endParaRPr lang="en-US" sz="1733" dirty="0"/>
          </a:p>
        </p:txBody>
      </p:sp>
      <p:sp>
        <p:nvSpPr>
          <p:cNvPr id="4" name="Text 2"/>
          <p:cNvSpPr/>
          <p:nvPr/>
        </p:nvSpPr>
        <p:spPr>
          <a:xfrm>
            <a:off x="487680" y="1487424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Bazında Kapanan Firma Sayısı</a:t>
            </a:r>
            <a:endParaRPr lang="en-US" sz="1467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43840" y="1828800"/>
          <a:ext cx="5852160" cy="4693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39840" y="1487424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Büyük Tamamlanan Hesaplar (POS Adedi)</a:t>
            </a:r>
            <a:endParaRPr lang="en-US" sz="1467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217920" y="1828800"/>
          <a:ext cx="5608320" cy="4608576"/>
        </p:xfrm>
        <a:graphic>
          <a:graphicData uri="http://schemas.openxmlformats.org/drawingml/2006/table">
            <a:tbl>
              <a:tblPr/>
              <a:tblGrid>
                <a:gridCol w="231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5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5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 Faz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5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155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Teklif Hazırlama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DHL KARGO (MNG)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155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Validasyon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155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Donanım Sunumu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 MARKET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155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Teklif Hazırlama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 CENTER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155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Op. Analizi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MARKT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155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Donanım Sunumu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İPEKYOL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155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Kurulum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ANPA GROSS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155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Validasyon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217920" y="6156960"/>
            <a:ext cx="5608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tamamlanan: 48.796 POS cihazı</a:t>
            </a:r>
            <a:endParaRPr lang="en-US" sz="13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34137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Projeler — Devam Eden </a:t>
            </a:r>
            <a:r>
              <a:rPr lang="tr-TR" sz="3733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Fazlar</a:t>
            </a:r>
            <a:endParaRPr lang="en-US" sz="3733" dirty="0"/>
          </a:p>
        </p:txBody>
      </p:sp>
      <p:sp>
        <p:nvSpPr>
          <p:cNvPr id="3" name="Text 1"/>
          <p:cNvSpPr/>
          <p:nvPr/>
        </p:nvSpPr>
        <p:spPr>
          <a:xfrm>
            <a:off x="670560" y="1048512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bazında pipeline durumu ve POS adetleri</a:t>
            </a:r>
            <a:endParaRPr lang="en-US" sz="1733" dirty="0"/>
          </a:p>
        </p:txBody>
      </p:sp>
      <p:sp>
        <p:nvSpPr>
          <p:cNvPr id="4" name="Text 2"/>
          <p:cNvSpPr/>
          <p:nvPr/>
        </p:nvSpPr>
        <p:spPr>
          <a:xfrm>
            <a:off x="487680" y="1487424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Bazında Aktif Firma Sayısı</a:t>
            </a:r>
            <a:endParaRPr lang="en-US" sz="1467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43840" y="1828800"/>
          <a:ext cx="5852160" cy="4693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39840" y="1487424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Büyük Aktif Hesaplar (POS Adedi)</a:t>
            </a:r>
            <a:endParaRPr lang="en-US" sz="1467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217920" y="1828800"/>
          <a:ext cx="5608320" cy="4608576"/>
        </p:xfrm>
        <a:graphic>
          <a:graphicData uri="http://schemas.openxmlformats.org/drawingml/2006/table">
            <a:tbl>
              <a:tblPr/>
              <a:tblGrid>
                <a:gridCol w="231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5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5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5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YURTİÇİ KARGO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155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Konsinye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155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Konsinye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ÜLKER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155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Konsinye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E-BEBEK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155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Kurulum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KARACA ZÜCCACİYE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155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Konsinye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CİVİL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155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Kurulum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 PARFUM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155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Uçtan Uca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KİĞILI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155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217920" y="6156960"/>
            <a:ext cx="5608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devam eden pipeline: 19.598 POS cihazı</a:t>
            </a:r>
            <a:endParaRPr lang="en-US" sz="13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A588D-DEC8-718A-6CC0-FA41F6957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47">
            <a:extLst>
              <a:ext uri="{FF2B5EF4-FFF2-40B4-BE49-F238E27FC236}">
                <a16:creationId xmlns:a16="http://schemas.microsoft.com/office/drawing/2014/main" id="{07168124-7A8B-48AA-F5A2-9DA3671AF9F2}"/>
              </a:ext>
            </a:extLst>
          </p:cNvPr>
          <p:cNvSpPr/>
          <p:nvPr/>
        </p:nvSpPr>
        <p:spPr>
          <a:xfrm>
            <a:off x="355684" y="1073418"/>
            <a:ext cx="11203550" cy="4746358"/>
          </a:xfrm>
          <a:prstGeom prst="roundRect">
            <a:avLst>
              <a:gd name="adj" fmla="val 8191"/>
            </a:avLst>
          </a:prstGeom>
          <a:gradFill>
            <a:gsLst>
              <a:gs pos="9000">
                <a:srgbClr val="F7F9FF">
                  <a:lumMod val="100000"/>
                </a:srgbClr>
              </a:gs>
              <a:gs pos="100000">
                <a:schemeClr val="bg1"/>
              </a:gs>
            </a:gsLst>
            <a:lin ang="8100000" scaled="0"/>
          </a:gradFill>
          <a:ln>
            <a:noFill/>
          </a:ln>
          <a:effectLst>
            <a:outerShdw blurRad="152400" dist="38100" dir="2700000" algn="tl" rotWithShape="0">
              <a:srgbClr val="2867F4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b="1" dirty="0">
                <a:solidFill>
                  <a:schemeClr val="tx1"/>
                </a:solidFill>
              </a:rPr>
              <a:t>Robot Pos Vuk507 Entegrasyonu : </a:t>
            </a:r>
            <a:r>
              <a:rPr lang="tr-TR" dirty="0" err="1">
                <a:solidFill>
                  <a:schemeClr val="tx1"/>
                </a:solidFill>
              </a:rPr>
              <a:t>Kasapos</a:t>
            </a:r>
            <a:r>
              <a:rPr lang="tr-TR" dirty="0">
                <a:solidFill>
                  <a:schemeClr val="tx1"/>
                </a:solidFill>
              </a:rPr>
              <a:t> entegrasyonu için Robot POS </a:t>
            </a:r>
            <a:r>
              <a:rPr lang="tr-TR" dirty="0" err="1">
                <a:solidFill>
                  <a:schemeClr val="tx1"/>
                </a:solidFill>
              </a:rPr>
              <a:t>Pavonun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dökümanlarını</a:t>
            </a:r>
            <a:r>
              <a:rPr lang="tr-TR" dirty="0">
                <a:solidFill>
                  <a:schemeClr val="tx1"/>
                </a:solidFill>
              </a:rPr>
              <a:t> paylaştı. Geri dönüş beklemekteler sürecin nasıl </a:t>
            </a:r>
            <a:r>
              <a:rPr lang="tr-TR" dirty="0" err="1">
                <a:solidFill>
                  <a:schemeClr val="tx1"/>
                </a:solidFill>
              </a:rPr>
              <a:t>ilerliyeceği</a:t>
            </a:r>
            <a:r>
              <a:rPr lang="tr-TR" dirty="0">
                <a:solidFill>
                  <a:schemeClr val="tx1"/>
                </a:solidFill>
              </a:rPr>
              <a:t> konusunda kendilerine geri dönüş yapmamız gerekmektedir. </a:t>
            </a:r>
            <a:endParaRPr lang="tr-TR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b="1" dirty="0">
                <a:solidFill>
                  <a:schemeClr val="tx1"/>
                </a:solidFill>
              </a:rPr>
              <a:t>Yazılım Seviyesinde Destek : </a:t>
            </a:r>
            <a:r>
              <a:rPr lang="tr-TR" dirty="0">
                <a:solidFill>
                  <a:schemeClr val="tx1"/>
                </a:solidFill>
              </a:rPr>
              <a:t>Firmalar yazılım seviyesinde entegrasyon destek taleplerinde sürecimizin netleşmesi.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b="1" dirty="0" err="1">
                <a:solidFill>
                  <a:schemeClr val="tx1"/>
                </a:solidFill>
              </a:rPr>
              <a:t>Ticket</a:t>
            </a:r>
            <a:r>
              <a:rPr lang="tr-TR" b="1" dirty="0">
                <a:solidFill>
                  <a:schemeClr val="tx1"/>
                </a:solidFill>
              </a:rPr>
              <a:t> süreçleri : </a:t>
            </a:r>
            <a:r>
              <a:rPr lang="tr-TR" dirty="0" err="1">
                <a:solidFill>
                  <a:schemeClr val="tx1"/>
                </a:solidFill>
              </a:rPr>
              <a:t>KasaPOS</a:t>
            </a:r>
            <a:r>
              <a:rPr lang="tr-TR" dirty="0">
                <a:solidFill>
                  <a:schemeClr val="tx1"/>
                </a:solidFill>
              </a:rPr>
              <a:t> entegrasyon tarafında oturmuş durumda. Ancak PAX Platform ve TMS tarafında süreç akışının netleştirilmesi gerekiyor.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b="1" dirty="0">
                <a:solidFill>
                  <a:schemeClr val="tx1"/>
                </a:solidFill>
              </a:rPr>
              <a:t>Toshiba : </a:t>
            </a:r>
            <a:r>
              <a:rPr lang="tr-TR" dirty="0">
                <a:solidFill>
                  <a:schemeClr val="tx1"/>
                </a:solidFill>
              </a:rPr>
              <a:t>POC süreçlerine başlanabilmesi için </a:t>
            </a:r>
            <a:r>
              <a:rPr lang="tr-TR" dirty="0" err="1">
                <a:solidFill>
                  <a:schemeClr val="tx1"/>
                </a:solidFill>
              </a:rPr>
              <a:t>full</a:t>
            </a:r>
            <a:r>
              <a:rPr lang="tr-TR" dirty="0">
                <a:solidFill>
                  <a:schemeClr val="tx1"/>
                </a:solidFill>
              </a:rPr>
              <a:t> entegrasyon ve uçtan uca testlerin tamamlanması gerekmektedir.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b="1" dirty="0">
                <a:solidFill>
                  <a:schemeClr val="tx1"/>
                </a:solidFill>
              </a:rPr>
              <a:t>Beymen </a:t>
            </a:r>
            <a:r>
              <a:rPr lang="tr-TR" b="1" dirty="0" err="1">
                <a:solidFill>
                  <a:schemeClr val="tx1"/>
                </a:solidFill>
              </a:rPr>
              <a:t>Qr</a:t>
            </a:r>
            <a:r>
              <a:rPr lang="tr-TR" b="1" dirty="0">
                <a:solidFill>
                  <a:schemeClr val="tx1"/>
                </a:solidFill>
              </a:rPr>
              <a:t> Konusu </a:t>
            </a:r>
            <a:r>
              <a:rPr lang="tr-TR" dirty="0">
                <a:solidFill>
                  <a:schemeClr val="tx1"/>
                </a:solidFill>
              </a:rPr>
              <a:t>: Öncelikli bankanın en başta gelmesi devamı alfabetik sırada olabilir. 2 + 1 a/g talep ettik bu zaten olması gereken bize özel olmamalı demekteler.  (Kendime not PP de nasıl oluyor ? ) </a:t>
            </a:r>
          </a:p>
        </p:txBody>
      </p:sp>
      <p:sp>
        <p:nvSpPr>
          <p:cNvPr id="7" name="Eksi İşareti 6">
            <a:extLst>
              <a:ext uri="{FF2B5EF4-FFF2-40B4-BE49-F238E27FC236}">
                <a16:creationId xmlns:a16="http://schemas.microsoft.com/office/drawing/2014/main" id="{821453E2-B2ED-0FA4-E29C-22FB7384D67E}"/>
              </a:ext>
            </a:extLst>
          </p:cNvPr>
          <p:cNvSpPr/>
          <p:nvPr/>
        </p:nvSpPr>
        <p:spPr>
          <a:xfrm flipV="1">
            <a:off x="-867821" y="942189"/>
            <a:ext cx="9840036" cy="284937"/>
          </a:xfrm>
          <a:prstGeom prst="mathMinus">
            <a:avLst/>
          </a:prstGeom>
          <a:solidFill>
            <a:srgbClr val="FFC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6BDAC33B-1C86-7E85-923A-7B1FCE2082C1}"/>
              </a:ext>
            </a:extLst>
          </p:cNvPr>
          <p:cNvSpPr txBox="1"/>
          <p:nvPr/>
        </p:nvSpPr>
        <p:spPr>
          <a:xfrm>
            <a:off x="279981" y="248766"/>
            <a:ext cx="112792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sz="3200" dirty="0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Ticari Riskler ve Yönetim Kararı Gerektiren Konular</a:t>
            </a:r>
          </a:p>
        </p:txBody>
      </p:sp>
      <p:pic>
        <p:nvPicPr>
          <p:cNvPr id="14" name="Grafik 13" descr="Pano Tümü İşaretli düz dolguyla">
            <a:extLst>
              <a:ext uri="{FF2B5EF4-FFF2-40B4-BE49-F238E27FC236}">
                <a16:creationId xmlns:a16="http://schemas.microsoft.com/office/drawing/2014/main" id="{1B39DB44-64CA-9616-42FF-97C48D15D8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0388" y="802686"/>
            <a:ext cx="541463" cy="541463"/>
          </a:xfrm>
          <a:prstGeom prst="rect">
            <a:avLst/>
          </a:prstGeom>
        </p:spPr>
      </p:pic>
      <p:pic>
        <p:nvPicPr>
          <p:cNvPr id="3" name="Grafik 2" descr="Rozet düz dolguyla">
            <a:extLst>
              <a:ext uri="{FF2B5EF4-FFF2-40B4-BE49-F238E27FC236}">
                <a16:creationId xmlns:a16="http://schemas.microsoft.com/office/drawing/2014/main" id="{F0D74EAB-E288-DB2B-E59E-A0901443CD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5176" y="858754"/>
            <a:ext cx="634058" cy="63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0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82B51-E376-4912-4F6F-7F8A671E7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in kutusu 32">
            <a:extLst>
              <a:ext uri="{FF2B5EF4-FFF2-40B4-BE49-F238E27FC236}">
                <a16:creationId xmlns:a16="http://schemas.microsoft.com/office/drawing/2014/main" id="{C7AB0822-7DF5-83DE-EE27-AD00411DFA5A}"/>
              </a:ext>
            </a:extLst>
          </p:cNvPr>
          <p:cNvSpPr txBox="1"/>
          <p:nvPr/>
        </p:nvSpPr>
        <p:spPr>
          <a:xfrm>
            <a:off x="116629" y="281345"/>
            <a:ext cx="1054492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tr-TR" sz="3200" dirty="0">
                <a:gradFill>
                  <a:gsLst>
                    <a:gs pos="0">
                      <a:srgbClr val="07055B"/>
                    </a:gs>
                    <a:gs pos="100000">
                      <a:srgbClr val="11A1F3"/>
                    </a:gs>
                  </a:gsLst>
                  <a:lin ang="7200000" scaled="0"/>
                </a:gradFill>
                <a:latin typeface="Poppins SemiBold"/>
                <a:cs typeface="Poppins SemiBold"/>
              </a:rPr>
              <a:t>Dağıtım Kanalı ve Zincir Noktalar</a:t>
            </a:r>
            <a:endParaRPr lang="tr-TR" sz="2400" dirty="0">
              <a:solidFill>
                <a:srgbClr val="07055B"/>
              </a:solidFill>
              <a:latin typeface="Poppins Bold"/>
              <a:ea typeface="Calibri"/>
              <a:cs typeface="Poppins Bold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7C985CD1-8D5A-00CF-80DF-67311665BFC4}"/>
              </a:ext>
            </a:extLst>
          </p:cNvPr>
          <p:cNvSpPr txBox="1"/>
          <p:nvPr/>
        </p:nvSpPr>
        <p:spPr>
          <a:xfrm>
            <a:off x="220752" y="910383"/>
            <a:ext cx="11750496" cy="6386364"/>
          </a:xfrm>
          <a:prstGeom prst="rect">
            <a:avLst/>
          </a:prstGeom>
          <a:noFill/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tr-TR" b="1" dirty="0"/>
              <a:t>Süreç İlerleyen / Fırsat </a:t>
            </a:r>
            <a:r>
              <a:rPr lang="tr-TR" b="1" dirty="0" err="1"/>
              <a:t>Potonsiyel</a:t>
            </a:r>
            <a:endParaRPr lang="tr-TR" b="1" dirty="0"/>
          </a:p>
          <a:p>
            <a:pPr>
              <a:lnSpc>
                <a:spcPct val="150000"/>
              </a:lnSpc>
            </a:pPr>
            <a:r>
              <a:rPr lang="tr-TR" sz="1600" b="1" dirty="0"/>
              <a:t>MNG Kargo:</a:t>
            </a:r>
            <a:r>
              <a:rPr lang="tr-TR" sz="1600" dirty="0"/>
              <a:t> Mali İşler Grup Müdürü Gökhan Yakar ile ürün ve hizmetlerimiz hakkında yüz yüze toplantı yapıldı. IT ekipleri ile ayrıca toplantı organize edilecek. Süreç takip ediliyor.</a:t>
            </a:r>
          </a:p>
          <a:p>
            <a:pPr>
              <a:lnSpc>
                <a:spcPct val="150000"/>
              </a:lnSpc>
            </a:pPr>
            <a:r>
              <a:rPr lang="tr-TR" sz="1600" b="1" dirty="0"/>
              <a:t>D-</a:t>
            </a:r>
            <a:r>
              <a:rPr lang="tr-TR" sz="1600" b="1" dirty="0" err="1"/>
              <a:t>ream</a:t>
            </a:r>
            <a:r>
              <a:rPr lang="tr-TR" sz="1600" b="1" dirty="0"/>
              <a:t>:</a:t>
            </a:r>
            <a:r>
              <a:rPr lang="tr-TR" sz="1600" dirty="0"/>
              <a:t> </a:t>
            </a:r>
            <a:r>
              <a:rPr lang="tr-TR" sz="1600" dirty="0" err="1"/>
              <a:t>Elys</a:t>
            </a:r>
            <a:r>
              <a:rPr lang="tr-TR" sz="1600" dirty="0"/>
              <a:t> </a:t>
            </a:r>
            <a:r>
              <a:rPr lang="tr-TR" sz="1600" dirty="0" err="1"/>
              <a:t>Tower</a:t>
            </a:r>
            <a:r>
              <a:rPr lang="tr-TR" sz="1600" dirty="0"/>
              <a:t> 1450 cihazımız Meydan AVM Günaydın </a:t>
            </a:r>
            <a:r>
              <a:rPr lang="tr-TR" sz="1600" dirty="0" err="1"/>
              <a:t>Et'e</a:t>
            </a:r>
            <a:r>
              <a:rPr lang="tr-TR" sz="1600" dirty="0"/>
              <a:t> kuruldu. Müşteri teklif talebi ile ilgili mail gönderecek ve teklif paylaşılacak..</a:t>
            </a:r>
            <a:endParaRPr lang="tr-TR" sz="16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tr-TR" sz="1600" b="1" dirty="0"/>
              <a:t>Eti: </a:t>
            </a:r>
            <a:r>
              <a:rPr lang="tr-TR" sz="1600" dirty="0">
                <a:ea typeface="Calibri"/>
                <a:cs typeface="Calibri"/>
              </a:rPr>
              <a:t>Mobil yazıcıdan slip basma geliştirmesi tamamlandı. Müşterideki test cihazımıza yüklendi. POC için bilgi bekliyoruz.</a:t>
            </a:r>
          </a:p>
          <a:p>
            <a:pPr>
              <a:lnSpc>
                <a:spcPct val="150000"/>
              </a:lnSpc>
            </a:pPr>
            <a:endParaRPr lang="tr-TR" sz="1600" dirty="0"/>
          </a:p>
          <a:p>
            <a:r>
              <a:rPr lang="tr-TR" b="1" dirty="0"/>
              <a:t>POC / Pilot Süreci</a:t>
            </a:r>
          </a:p>
          <a:p>
            <a:r>
              <a:rPr lang="tr-TR" sz="1600" b="1" dirty="0" err="1">
                <a:ea typeface="Calibri"/>
                <a:cs typeface="Calibri"/>
              </a:rPr>
              <a:t>Pladis</a:t>
            </a:r>
            <a:r>
              <a:rPr lang="tr-TR" sz="1600" b="1" dirty="0">
                <a:ea typeface="Calibri"/>
                <a:cs typeface="Calibri"/>
              </a:rPr>
              <a:t> Grup (Ülker): </a:t>
            </a:r>
            <a:r>
              <a:rPr lang="tr-TR" sz="1600" dirty="0">
                <a:ea typeface="+mn-lt"/>
                <a:cs typeface="+mn-lt"/>
              </a:rPr>
              <a:t>A6650 ile saha testlerine başlanmıştır. Mevcut tablo, yaklaşık 4.000 adet A6650 veya A6630 için potansiyel bir fırsata işaret etmektedir. Konum servisleri bu müşteri içinde önemliydi. Cihaza yüklemeleri yapıldı. </a:t>
            </a:r>
            <a:endParaRPr lang="tr-TR" dirty="0"/>
          </a:p>
          <a:p>
            <a:endParaRPr lang="tr-TR" sz="1600" dirty="0">
              <a:ea typeface="Calibri"/>
              <a:cs typeface="Calibri"/>
            </a:endParaRPr>
          </a:p>
          <a:p>
            <a:endParaRPr lang="tr-TR" sz="1600" dirty="0"/>
          </a:p>
          <a:p>
            <a:r>
              <a:rPr lang="tr-TR" b="1" dirty="0"/>
              <a:t>Değerlendirmede </a:t>
            </a:r>
          </a:p>
          <a:p>
            <a:r>
              <a:rPr lang="tr-TR" sz="1600" b="1" dirty="0"/>
              <a:t>Metro Marketler:</a:t>
            </a:r>
            <a:r>
              <a:rPr lang="tr-TR" sz="1600" dirty="0"/>
              <a:t> 1500 adet A80 (4G) talebi/potansiyeli var. Fiyat teklifi 06.02 tarihinde iletildi, geri dönüş bekleniyor.</a:t>
            </a:r>
          </a:p>
          <a:p>
            <a:br>
              <a:rPr lang="tr-TR" sz="1600" dirty="0"/>
            </a:br>
            <a:r>
              <a:rPr lang="tr-TR" b="1" dirty="0"/>
              <a:t>Blokaj / Kritik Problem</a:t>
            </a:r>
            <a:endParaRPr lang="tr-TR" sz="1600" dirty="0">
              <a:ea typeface="Calibri" panose="020F0502020204030204"/>
              <a:cs typeface="Calibri" panose="020F0502020204030204"/>
            </a:endParaRPr>
          </a:p>
          <a:p>
            <a:r>
              <a:rPr lang="tr-TR" sz="1600" b="1" dirty="0"/>
              <a:t>Kahve Dünyası:</a:t>
            </a:r>
            <a:r>
              <a:rPr lang="tr-TR" sz="1600" dirty="0"/>
              <a:t> Robot POS Entegrasyonu ve /veya </a:t>
            </a:r>
            <a:r>
              <a:rPr lang="tr-TR" sz="1600" dirty="0" err="1"/>
              <a:t>Ödeal</a:t>
            </a:r>
            <a:r>
              <a:rPr lang="tr-TR" sz="1600" dirty="0"/>
              <a:t> VUK 507 entegrasyonu</a:t>
            </a:r>
          </a:p>
          <a:p>
            <a:r>
              <a:rPr lang="tr-TR" sz="1600" b="1" dirty="0"/>
              <a:t>Yurtiçi Kargo:</a:t>
            </a:r>
            <a:r>
              <a:rPr lang="tr-TR" sz="1600" dirty="0"/>
              <a:t> Ses açma-kapama tuşunu barkod okuma tuşu olarak atamak istiyorlar. Versiyon geldi fakat hem konum hem buton geliştirmesi aynı anda çalışmıyor.</a:t>
            </a:r>
            <a:br>
              <a:rPr lang="tr-TR" sz="1600" dirty="0"/>
            </a:br>
            <a:endParaRPr lang="tr-TR" sz="1600" dirty="0">
              <a:ea typeface="Calibri"/>
              <a:cs typeface="Calibri"/>
            </a:endParaRPr>
          </a:p>
          <a:p>
            <a:endParaRPr lang="tr-TR" sz="1600" b="1" dirty="0">
              <a:ea typeface="Calibri"/>
              <a:cs typeface="Calibri"/>
            </a:endParaRPr>
          </a:p>
          <a:p>
            <a:endParaRPr lang="tr-TR" sz="1600" dirty="0">
              <a:highlight>
                <a:srgbClr val="FFFF00"/>
              </a:highlight>
              <a:ea typeface="Calibri" panose="020F0502020204030204"/>
              <a:cs typeface="Calibri" panose="020F0502020204030204"/>
            </a:endParaRPr>
          </a:p>
          <a:p>
            <a:endParaRPr lang="tr-TR" sz="1600" dirty="0">
              <a:highlight>
                <a:srgbClr val="FFFF00"/>
              </a:highlight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Eksi İşareti 3">
            <a:extLst>
              <a:ext uri="{FF2B5EF4-FFF2-40B4-BE49-F238E27FC236}">
                <a16:creationId xmlns:a16="http://schemas.microsoft.com/office/drawing/2014/main" id="{97CF36DA-B81F-0A5F-6FFC-07FC141E6F65}"/>
              </a:ext>
            </a:extLst>
          </p:cNvPr>
          <p:cNvSpPr/>
          <p:nvPr/>
        </p:nvSpPr>
        <p:spPr>
          <a:xfrm flipV="1">
            <a:off x="-261681" y="826696"/>
            <a:ext cx="4287770" cy="280990"/>
          </a:xfrm>
          <a:prstGeom prst="mathMinus">
            <a:avLst/>
          </a:prstGeom>
          <a:solidFill>
            <a:srgbClr val="92D050"/>
          </a:solidFill>
          <a:ln>
            <a:solidFill>
              <a:srgbClr val="0A9FD4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Eksi İşareti 4">
            <a:extLst>
              <a:ext uri="{FF2B5EF4-FFF2-40B4-BE49-F238E27FC236}">
                <a16:creationId xmlns:a16="http://schemas.microsoft.com/office/drawing/2014/main" id="{CAE00DF3-57AF-87CA-A11F-5B9D600576E0}"/>
              </a:ext>
            </a:extLst>
          </p:cNvPr>
          <p:cNvSpPr/>
          <p:nvPr/>
        </p:nvSpPr>
        <p:spPr>
          <a:xfrm flipV="1">
            <a:off x="-261681" y="4070177"/>
            <a:ext cx="4287770" cy="280990"/>
          </a:xfrm>
          <a:prstGeom prst="mathMinus">
            <a:avLst/>
          </a:prstGeom>
          <a:solidFill>
            <a:srgbClr val="E5AF4B"/>
          </a:solidFill>
          <a:ln>
            <a:solidFill>
              <a:srgbClr val="0A9FD4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Eksi İşareti 5">
            <a:extLst>
              <a:ext uri="{FF2B5EF4-FFF2-40B4-BE49-F238E27FC236}">
                <a16:creationId xmlns:a16="http://schemas.microsoft.com/office/drawing/2014/main" id="{2C35B67C-C568-E211-6FA1-E2D052369AE0}"/>
              </a:ext>
            </a:extLst>
          </p:cNvPr>
          <p:cNvSpPr/>
          <p:nvPr/>
        </p:nvSpPr>
        <p:spPr>
          <a:xfrm flipV="1">
            <a:off x="-261681" y="4949882"/>
            <a:ext cx="4287770" cy="280990"/>
          </a:xfrm>
          <a:prstGeom prst="mathMinus">
            <a:avLst/>
          </a:prstGeom>
          <a:solidFill>
            <a:srgbClr val="C00000"/>
          </a:solidFill>
          <a:ln>
            <a:solidFill>
              <a:srgbClr val="0A9FD4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Eksi İşareti 6">
            <a:extLst>
              <a:ext uri="{FF2B5EF4-FFF2-40B4-BE49-F238E27FC236}">
                <a16:creationId xmlns:a16="http://schemas.microsoft.com/office/drawing/2014/main" id="{C09BD440-E003-5BD2-C96A-AF10CB104530}"/>
              </a:ext>
            </a:extLst>
          </p:cNvPr>
          <p:cNvSpPr/>
          <p:nvPr/>
        </p:nvSpPr>
        <p:spPr>
          <a:xfrm flipV="1">
            <a:off x="-261681" y="2860483"/>
            <a:ext cx="4287770" cy="280990"/>
          </a:xfrm>
          <a:prstGeom prst="mathMinus">
            <a:avLst/>
          </a:prstGeom>
          <a:solidFill>
            <a:srgbClr val="1BB5F7"/>
          </a:solidFill>
          <a:ln>
            <a:solidFill>
              <a:srgbClr val="0A9FD4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3592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7C4A2-9886-EAFD-D44A-2BFC4C78A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in kutusu 32">
            <a:extLst>
              <a:ext uri="{FF2B5EF4-FFF2-40B4-BE49-F238E27FC236}">
                <a16:creationId xmlns:a16="http://schemas.microsoft.com/office/drawing/2014/main" id="{A1F6D29C-7BEE-214D-0D73-D71366003ED8}"/>
              </a:ext>
            </a:extLst>
          </p:cNvPr>
          <p:cNvSpPr txBox="1"/>
          <p:nvPr/>
        </p:nvSpPr>
        <p:spPr>
          <a:xfrm>
            <a:off x="116629" y="281345"/>
            <a:ext cx="1054492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tr-TR" sz="3200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Toshiba Kullanan Firmalardaki Durumlar</a:t>
            </a:r>
            <a:r>
              <a:rPr lang="tr-TR" sz="2400" b="1">
                <a:solidFill>
                  <a:srgbClr val="07055B"/>
                </a:solidFill>
                <a:ea typeface="Calibri"/>
                <a:cs typeface="Poppins Bold"/>
              </a:rPr>
              <a:t> 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DBB9B7EC-312A-E3F5-269F-F9CCB33372A8}"/>
              </a:ext>
            </a:extLst>
          </p:cNvPr>
          <p:cNvSpPr txBox="1"/>
          <p:nvPr/>
        </p:nvSpPr>
        <p:spPr>
          <a:xfrm>
            <a:off x="220752" y="743369"/>
            <a:ext cx="11750496" cy="59400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tr-TR" b="1" dirty="0"/>
              <a:t>Süreç İlerleyen / Fırsat </a:t>
            </a:r>
            <a:r>
              <a:rPr lang="tr-TR" b="1" dirty="0" err="1"/>
              <a:t>Potonsiyel</a:t>
            </a:r>
            <a:endParaRPr lang="tr-TR" b="1" dirty="0"/>
          </a:p>
          <a:p>
            <a:pPr>
              <a:lnSpc>
                <a:spcPct val="150000"/>
              </a:lnSpc>
            </a:pPr>
            <a:r>
              <a:rPr lang="tr-TR" sz="1600" b="1" dirty="0"/>
              <a:t>Boyner (Horizon):</a:t>
            </a:r>
            <a:r>
              <a:rPr lang="tr-TR" sz="1600" dirty="0"/>
              <a:t> GİB muafiyet başvurusu başlatıldı, 50 adet A6650 seri numarası paylaşıldı. Güvenlik endişeleri giderildi. RAM ihtiyacı tarafında değerlendirme devam ediyor.</a:t>
            </a:r>
            <a:br>
              <a:rPr lang="tr-TR" sz="1600" dirty="0"/>
            </a:br>
            <a:r>
              <a:rPr lang="tr-TR" sz="1600" b="1" dirty="0"/>
              <a:t>Karaca Züccaciye:</a:t>
            </a:r>
            <a:r>
              <a:rPr lang="tr-TR" sz="1600" dirty="0"/>
              <a:t> Konsinye cihazlar gönderildi. Reyonda ödeme yaklaşımına olumlu bakılıyor. Geri bildirimleri bekleniyor.</a:t>
            </a:r>
            <a:br>
              <a:rPr lang="tr-TR" sz="1600" dirty="0"/>
            </a:br>
            <a:r>
              <a:rPr lang="tr-TR" sz="1600" b="1" dirty="0" err="1"/>
              <a:t>Mudo</a:t>
            </a:r>
            <a:r>
              <a:rPr lang="tr-TR" sz="1600" b="1" dirty="0"/>
              <a:t>:</a:t>
            </a:r>
            <a:r>
              <a:rPr lang="tr-TR" sz="1600" dirty="0"/>
              <a:t> e-Arşiv geçiş planı bulunuyor. A80 ve A6650 ile ilk temas kuruldu. EFT-POS parkur değişimi gündemde.</a:t>
            </a:r>
          </a:p>
          <a:p>
            <a:pPr>
              <a:lnSpc>
                <a:spcPct val="150000"/>
              </a:lnSpc>
            </a:pPr>
            <a:r>
              <a:rPr lang="tr-TR" sz="1600" b="1" dirty="0">
                <a:ea typeface="Calibri"/>
                <a:cs typeface="Calibri"/>
              </a:rPr>
              <a:t>E-Bebek:</a:t>
            </a:r>
            <a:r>
              <a:rPr lang="tr-TR" sz="1600" dirty="0">
                <a:ea typeface="Calibri"/>
                <a:cs typeface="Calibri"/>
              </a:rPr>
              <a:t> </a:t>
            </a:r>
            <a:r>
              <a:rPr lang="tr-TR" sz="1600" dirty="0" err="1">
                <a:ea typeface="+mn-lt"/>
                <a:cs typeface="+mn-lt"/>
              </a:rPr>
              <a:t>CFO’larının</a:t>
            </a:r>
            <a:r>
              <a:rPr lang="tr-TR" sz="1600" dirty="0">
                <a:ea typeface="+mn-lt"/>
                <a:cs typeface="+mn-lt"/>
              </a:rPr>
              <a:t> katılımı ile ikinci toplantı yapıldı. Toshiba ile </a:t>
            </a:r>
            <a:r>
              <a:rPr lang="tr-TR" sz="1600" dirty="0" err="1">
                <a:ea typeface="+mn-lt"/>
                <a:cs typeface="+mn-lt"/>
              </a:rPr>
              <a:t>full</a:t>
            </a:r>
            <a:r>
              <a:rPr lang="tr-TR" sz="1600" dirty="0">
                <a:ea typeface="+mn-lt"/>
                <a:cs typeface="+mn-lt"/>
              </a:rPr>
              <a:t> entegrasyon tamamlanmadan </a:t>
            </a:r>
            <a:r>
              <a:rPr lang="tr-TR" sz="1600" dirty="0" err="1">
                <a:ea typeface="+mn-lt"/>
                <a:cs typeface="+mn-lt"/>
              </a:rPr>
              <a:t>POC'ye</a:t>
            </a:r>
            <a:r>
              <a:rPr lang="tr-TR" sz="1600" dirty="0">
                <a:ea typeface="+mn-lt"/>
                <a:cs typeface="+mn-lt"/>
              </a:rPr>
              <a:t> çıkmamaya karar verdiler.</a:t>
            </a:r>
            <a:endParaRPr lang="tr-TR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tr-TR" sz="1600" dirty="0"/>
          </a:p>
          <a:p>
            <a:pPr>
              <a:lnSpc>
                <a:spcPct val="150000"/>
              </a:lnSpc>
            </a:pPr>
            <a:r>
              <a:rPr lang="tr-TR" b="1" dirty="0"/>
              <a:t>POC / Pilot Süreci</a:t>
            </a:r>
          </a:p>
          <a:p>
            <a:pPr>
              <a:lnSpc>
                <a:spcPct val="150000"/>
              </a:lnSpc>
            </a:pPr>
            <a:r>
              <a:rPr lang="tr-TR" sz="1600" b="1" dirty="0"/>
              <a:t>Bizim Toptan:</a:t>
            </a:r>
            <a:r>
              <a:rPr lang="tr-TR" sz="1600" dirty="0"/>
              <a:t> </a:t>
            </a:r>
            <a:r>
              <a:rPr lang="tr-TR" sz="1600" dirty="0" err="1"/>
              <a:t>Ödeal</a:t>
            </a:r>
            <a:r>
              <a:rPr lang="tr-TR" sz="1600" dirty="0"/>
              <a:t> ve PAX tarafında POC kapsamında test gerçekleştirildi. Sürecin ilerlemesi için kapsam genişletilmesi bekleniyor.</a:t>
            </a:r>
          </a:p>
          <a:p>
            <a:pPr>
              <a:lnSpc>
                <a:spcPct val="150000"/>
              </a:lnSpc>
            </a:pPr>
            <a:r>
              <a:rPr lang="tr-TR" b="1" dirty="0"/>
              <a:t>Değerlendirmede </a:t>
            </a:r>
          </a:p>
          <a:p>
            <a:pPr>
              <a:lnSpc>
                <a:spcPct val="150000"/>
              </a:lnSpc>
            </a:pPr>
            <a:r>
              <a:rPr lang="tr-TR" sz="1600" b="1" dirty="0"/>
              <a:t>A101:</a:t>
            </a:r>
            <a:r>
              <a:rPr lang="tr-TR" sz="1600" dirty="0"/>
              <a:t> </a:t>
            </a:r>
            <a:r>
              <a:rPr lang="tr-TR" sz="1600" dirty="0" err="1"/>
              <a:t>It</a:t>
            </a:r>
            <a:r>
              <a:rPr lang="tr-TR" sz="1600" dirty="0"/>
              <a:t> Direktörü test için A35 istedi. Organize ediliyor. Müşteriye </a:t>
            </a:r>
            <a:r>
              <a:rPr lang="tr-TR" sz="1600" dirty="0" err="1"/>
              <a:t>Max</a:t>
            </a:r>
            <a:r>
              <a:rPr lang="tr-TR" sz="1600" dirty="0"/>
              <a:t> </a:t>
            </a:r>
            <a:r>
              <a:rPr lang="tr-TR" sz="1600" dirty="0" err="1"/>
              <a:t>Store'un</a:t>
            </a:r>
            <a:r>
              <a:rPr lang="tr-TR" sz="1600" dirty="0"/>
              <a:t> on-</a:t>
            </a:r>
            <a:r>
              <a:rPr lang="tr-TR" sz="1600" dirty="0" err="1"/>
              <a:t>prem</a:t>
            </a:r>
            <a:r>
              <a:rPr lang="tr-TR" sz="1600" dirty="0"/>
              <a:t> verilmeyeceğinin bilgisi verildi. </a:t>
            </a:r>
            <a:endParaRPr lang="tr-TR" sz="16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tr-TR" b="1" dirty="0"/>
              <a:t>Blokaj / Kritik Problem</a:t>
            </a:r>
          </a:p>
          <a:p>
            <a:pPr>
              <a:lnSpc>
                <a:spcPct val="150000"/>
              </a:lnSpc>
            </a:pPr>
            <a:r>
              <a:rPr lang="tr-TR" sz="1600" b="1" dirty="0" err="1"/>
              <a:t>Happy</a:t>
            </a:r>
            <a:r>
              <a:rPr lang="tr-TR" sz="1600" b="1" dirty="0"/>
              <a:t> Center:</a:t>
            </a:r>
            <a:r>
              <a:rPr lang="tr-TR" sz="1600" dirty="0"/>
              <a:t> 191 şube / ~900 kasa. </a:t>
            </a:r>
            <a:r>
              <a:rPr lang="tr-TR" sz="1600" dirty="0" err="1"/>
              <a:t>Pavo</a:t>
            </a:r>
            <a:r>
              <a:rPr lang="tr-TR" sz="1600" dirty="0"/>
              <a:t> ile 30 mağazada POC mevcut. Yemek kartı entegrasyonu PAX tarafı ilerlemesi için kritik blokaj oluşturuyor. Entegrasyon sonrası PAX POC başlatılabilir.</a:t>
            </a:r>
          </a:p>
          <a:p>
            <a:endParaRPr lang="tr-TR" sz="1600" dirty="0"/>
          </a:p>
          <a:p>
            <a:r>
              <a:rPr lang="tr-TR" sz="1600" dirty="0"/>
              <a:t> </a:t>
            </a:r>
            <a:endParaRPr lang="tr-TR" sz="1600" dirty="0">
              <a:ea typeface="Calibri"/>
              <a:cs typeface="Calibri"/>
            </a:endParaRPr>
          </a:p>
        </p:txBody>
      </p:sp>
      <p:sp>
        <p:nvSpPr>
          <p:cNvPr id="3" name="Eksi İşareti 2">
            <a:extLst>
              <a:ext uri="{FF2B5EF4-FFF2-40B4-BE49-F238E27FC236}">
                <a16:creationId xmlns:a16="http://schemas.microsoft.com/office/drawing/2014/main" id="{9E4D0A10-21B5-96E5-CB70-B9BA6388F310}"/>
              </a:ext>
            </a:extLst>
          </p:cNvPr>
          <p:cNvSpPr/>
          <p:nvPr/>
        </p:nvSpPr>
        <p:spPr>
          <a:xfrm flipV="1">
            <a:off x="-261681" y="725625"/>
            <a:ext cx="4287770" cy="280990"/>
          </a:xfrm>
          <a:prstGeom prst="mathMinus">
            <a:avLst/>
          </a:prstGeom>
          <a:solidFill>
            <a:srgbClr val="92D050"/>
          </a:solidFill>
          <a:ln>
            <a:solidFill>
              <a:srgbClr val="0A9FD4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Eksi İşareti 3">
            <a:extLst>
              <a:ext uri="{FF2B5EF4-FFF2-40B4-BE49-F238E27FC236}">
                <a16:creationId xmlns:a16="http://schemas.microsoft.com/office/drawing/2014/main" id="{83960E0A-723F-944E-D0DA-BFB9F2614A7D}"/>
              </a:ext>
            </a:extLst>
          </p:cNvPr>
          <p:cNvSpPr/>
          <p:nvPr/>
        </p:nvSpPr>
        <p:spPr>
          <a:xfrm flipV="1">
            <a:off x="-261681" y="3290329"/>
            <a:ext cx="4287770" cy="280990"/>
          </a:xfrm>
          <a:prstGeom prst="mathMinus">
            <a:avLst/>
          </a:prstGeom>
          <a:solidFill>
            <a:srgbClr val="1BB5F7"/>
          </a:solidFill>
          <a:ln>
            <a:solidFill>
              <a:srgbClr val="0A9FD4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Eksi İşareti 4">
            <a:extLst>
              <a:ext uri="{FF2B5EF4-FFF2-40B4-BE49-F238E27FC236}">
                <a16:creationId xmlns:a16="http://schemas.microsoft.com/office/drawing/2014/main" id="{355169DE-64E1-6926-B78F-DB2D60A16A12}"/>
              </a:ext>
            </a:extLst>
          </p:cNvPr>
          <p:cNvSpPr/>
          <p:nvPr/>
        </p:nvSpPr>
        <p:spPr>
          <a:xfrm flipV="1">
            <a:off x="-261681" y="4133995"/>
            <a:ext cx="4287770" cy="280990"/>
          </a:xfrm>
          <a:prstGeom prst="mathMinus">
            <a:avLst/>
          </a:prstGeom>
          <a:solidFill>
            <a:srgbClr val="FFC000"/>
          </a:solidFill>
          <a:ln>
            <a:solidFill>
              <a:srgbClr val="0A9FD4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Eksi İşareti 5">
            <a:extLst>
              <a:ext uri="{FF2B5EF4-FFF2-40B4-BE49-F238E27FC236}">
                <a16:creationId xmlns:a16="http://schemas.microsoft.com/office/drawing/2014/main" id="{FCC7CEBC-8A7B-469A-150D-2000802B8578}"/>
              </a:ext>
            </a:extLst>
          </p:cNvPr>
          <p:cNvSpPr/>
          <p:nvPr/>
        </p:nvSpPr>
        <p:spPr>
          <a:xfrm flipV="1">
            <a:off x="-261681" y="5258082"/>
            <a:ext cx="4287770" cy="280990"/>
          </a:xfrm>
          <a:prstGeom prst="mathMinus">
            <a:avLst/>
          </a:prstGeom>
          <a:solidFill>
            <a:srgbClr val="C00000"/>
          </a:solidFill>
          <a:ln>
            <a:solidFill>
              <a:srgbClr val="0A9FD4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0376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F153B-C503-6637-7A46-BB479E282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in kutusu 32">
            <a:extLst>
              <a:ext uri="{FF2B5EF4-FFF2-40B4-BE49-F238E27FC236}">
                <a16:creationId xmlns:a16="http://schemas.microsoft.com/office/drawing/2014/main" id="{35DD2465-A05C-5F43-1A4B-39547EF9CE03}"/>
              </a:ext>
            </a:extLst>
          </p:cNvPr>
          <p:cNvSpPr txBox="1"/>
          <p:nvPr/>
        </p:nvSpPr>
        <p:spPr>
          <a:xfrm>
            <a:off x="116629" y="281345"/>
            <a:ext cx="1054492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tr-TR" sz="3200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Nebim Kullanan Firmalardaki Durumlar 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E7F8DC4D-C0DE-C8FD-72CB-11A921BF722A}"/>
              </a:ext>
            </a:extLst>
          </p:cNvPr>
          <p:cNvSpPr txBox="1"/>
          <p:nvPr/>
        </p:nvSpPr>
        <p:spPr>
          <a:xfrm>
            <a:off x="220752" y="743369"/>
            <a:ext cx="11750496" cy="73558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endParaRPr lang="tr-TR" sz="1500" b="1" dirty="0">
              <a:highlight>
                <a:srgbClr val="FFFF00"/>
              </a:highlight>
              <a:ea typeface="Calibri"/>
              <a:cs typeface="Calibri"/>
            </a:endParaRPr>
          </a:p>
          <a:p>
            <a:pPr>
              <a:lnSpc>
                <a:spcPct val="150000"/>
              </a:lnSpc>
              <a:buNone/>
            </a:pPr>
            <a:r>
              <a:rPr lang="tr-TR" b="1" dirty="0"/>
              <a:t>Sipariş / Yaygınlaştırma Aşaması</a:t>
            </a:r>
          </a:p>
          <a:p>
            <a:pPr>
              <a:lnSpc>
                <a:spcPct val="150000"/>
              </a:lnSpc>
            </a:pPr>
            <a:r>
              <a:rPr lang="tr-TR" sz="1600" b="1" dirty="0"/>
              <a:t>Kiğılı:</a:t>
            </a:r>
            <a:r>
              <a:rPr lang="tr-TR" sz="1600" dirty="0"/>
              <a:t> </a:t>
            </a:r>
            <a:r>
              <a:rPr lang="tr-TR" sz="1500" dirty="0"/>
              <a:t>500 adet A80 cihaz teslimatı tamamlandı.</a:t>
            </a:r>
            <a:endParaRPr lang="tr-TR" sz="15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tr-TR" sz="1600" b="1" dirty="0"/>
              <a:t>Yargıcı:</a:t>
            </a:r>
            <a:r>
              <a:rPr lang="tr-TR" sz="1600" dirty="0"/>
              <a:t> Süreç olumlu ilerliyor. Sipariş bekleniyor.</a:t>
            </a:r>
            <a:br>
              <a:rPr lang="tr-TR" sz="1600" dirty="0"/>
            </a:br>
            <a:r>
              <a:rPr lang="tr-TR" sz="1600" b="1" dirty="0" err="1"/>
              <a:t>Suwen</a:t>
            </a:r>
            <a:r>
              <a:rPr lang="tr-TR" sz="1600" b="1" dirty="0"/>
              <a:t>:</a:t>
            </a:r>
            <a:r>
              <a:rPr lang="tr-TR" sz="1600" dirty="0"/>
              <a:t> Süreç olumlu ilerliyor, mağazalarda parçalı geçiş yapılıyor.</a:t>
            </a:r>
            <a:endParaRPr lang="tr-TR" dirty="0"/>
          </a:p>
          <a:p>
            <a:pPr>
              <a:lnSpc>
                <a:spcPct val="150000"/>
              </a:lnSpc>
            </a:pPr>
            <a:r>
              <a:rPr lang="tr-TR" sz="1600" b="1" dirty="0">
                <a:ea typeface="Calibri"/>
                <a:cs typeface="Calibri"/>
              </a:rPr>
              <a:t>BG </a:t>
            </a:r>
            <a:r>
              <a:rPr lang="tr-TR" sz="1600" b="1" dirty="0" err="1">
                <a:ea typeface="Calibri"/>
                <a:cs typeface="Calibri"/>
              </a:rPr>
              <a:t>Store</a:t>
            </a:r>
            <a:r>
              <a:rPr lang="tr-TR" sz="1600" b="1" dirty="0">
                <a:ea typeface="Calibri"/>
                <a:cs typeface="Calibri"/>
              </a:rPr>
              <a:t>:</a:t>
            </a:r>
            <a:r>
              <a:rPr lang="tr-TR" sz="1600" dirty="0">
                <a:ea typeface="Calibri"/>
                <a:cs typeface="Calibri"/>
              </a:rPr>
              <a:t> 130 A80 potansiyel. </a:t>
            </a:r>
            <a:r>
              <a:rPr lang="tr-TR" sz="1600" dirty="0" err="1">
                <a:ea typeface="Calibri"/>
                <a:cs typeface="Calibri"/>
              </a:rPr>
              <a:t>Paramtech</a:t>
            </a:r>
            <a:r>
              <a:rPr lang="tr-TR" sz="1600" dirty="0">
                <a:ea typeface="Calibri"/>
                <a:cs typeface="Calibri"/>
              </a:rPr>
              <a:t> tarafına 10 adet sipariş geçilmiştir.</a:t>
            </a:r>
            <a:endParaRPr lang="tr-TR" dirty="0"/>
          </a:p>
          <a:p>
            <a:endParaRPr lang="tr-TR" sz="1500" dirty="0">
              <a:highlight>
                <a:srgbClr val="FFFF00"/>
              </a:highlight>
              <a:ea typeface="Calibri"/>
              <a:cs typeface="Calibri"/>
            </a:endParaRPr>
          </a:p>
          <a:p>
            <a:endParaRPr lang="tr-TR" sz="1600" dirty="0"/>
          </a:p>
          <a:p>
            <a:pPr>
              <a:lnSpc>
                <a:spcPct val="150000"/>
              </a:lnSpc>
            </a:pPr>
            <a:r>
              <a:rPr lang="tr-TR" b="1" dirty="0"/>
              <a:t>POC / Pilot Süreci</a:t>
            </a:r>
          </a:p>
          <a:p>
            <a:pPr>
              <a:lnSpc>
                <a:spcPct val="150000"/>
              </a:lnSpc>
            </a:pPr>
            <a:r>
              <a:rPr lang="tr-TR" sz="1600" b="1" dirty="0"/>
              <a:t>Columbia:</a:t>
            </a:r>
            <a:r>
              <a:rPr lang="tr-TR" sz="1600" dirty="0"/>
              <a:t> 26 A80 + 40 A6650 potansiyel. 3 mağazada POC başladı. Garanti </a:t>
            </a:r>
            <a:r>
              <a:rPr lang="tr-TR" sz="1600" dirty="0" err="1"/>
              <a:t>Native</a:t>
            </a:r>
            <a:r>
              <a:rPr lang="tr-TR" sz="1600" dirty="0"/>
              <a:t> </a:t>
            </a:r>
            <a:r>
              <a:rPr lang="tr-TR" sz="1600" dirty="0" err="1"/>
              <a:t>Pinpad</a:t>
            </a:r>
            <a:r>
              <a:rPr lang="tr-TR" sz="1600" dirty="0"/>
              <a:t> pilotu devrede.</a:t>
            </a:r>
            <a:br>
              <a:rPr lang="tr-TR" sz="1600" dirty="0"/>
            </a:br>
            <a:r>
              <a:rPr lang="tr-TR" sz="1600" b="1" dirty="0"/>
              <a:t>Mad </a:t>
            </a:r>
            <a:r>
              <a:rPr lang="tr-TR" sz="1600" b="1" dirty="0" err="1"/>
              <a:t>Parfumeur</a:t>
            </a:r>
            <a:r>
              <a:rPr lang="tr-TR" sz="1600" b="1" dirty="0"/>
              <a:t>:</a:t>
            </a:r>
            <a:r>
              <a:rPr lang="tr-TR" sz="1600" dirty="0"/>
              <a:t> 300 A80 + 100 A6650 potansiyel. 4 mağazada POC devam ediyor.</a:t>
            </a:r>
            <a:br>
              <a:rPr lang="tr-TR" sz="1600" dirty="0"/>
            </a:br>
            <a:r>
              <a:rPr lang="tr-TR" sz="1600" b="1" dirty="0"/>
              <a:t>İpekyol:</a:t>
            </a:r>
            <a:r>
              <a:rPr lang="tr-TR" sz="1600" dirty="0"/>
              <a:t> Yaygınlaştırma için BKM </a:t>
            </a:r>
            <a:r>
              <a:rPr lang="tr-TR" sz="1600" dirty="0" err="1"/>
              <a:t>TechPOS</a:t>
            </a:r>
            <a:r>
              <a:rPr lang="tr-TR" sz="1600" dirty="0"/>
              <a:t> yönlendirmesi yapıldı; POC sürecine alınacak.</a:t>
            </a:r>
          </a:p>
          <a:p>
            <a:pPr>
              <a:lnSpc>
                <a:spcPct val="150000"/>
              </a:lnSpc>
            </a:pPr>
            <a:r>
              <a:rPr lang="tr-TR" sz="1600" b="1" dirty="0" err="1">
                <a:ea typeface="Calibri"/>
                <a:cs typeface="Calibri"/>
              </a:rPr>
              <a:t>Tudors</a:t>
            </a:r>
            <a:r>
              <a:rPr lang="tr-TR" sz="1600" b="1" dirty="0">
                <a:ea typeface="Calibri"/>
                <a:cs typeface="Calibri"/>
              </a:rPr>
              <a:t>: </a:t>
            </a:r>
            <a:r>
              <a:rPr lang="tr-TR" sz="1500" dirty="0">
                <a:ea typeface="Calibri"/>
                <a:cs typeface="Calibri"/>
              </a:rPr>
              <a:t>Merkezlerinde A6650 POC başlanmıştır. Konu Verimsoft ve </a:t>
            </a:r>
            <a:r>
              <a:rPr lang="tr-TR" sz="1500" dirty="0" err="1">
                <a:ea typeface="Calibri"/>
                <a:cs typeface="Calibri"/>
              </a:rPr>
              <a:t>Paramtech</a:t>
            </a:r>
            <a:r>
              <a:rPr lang="tr-TR" sz="1500" dirty="0">
                <a:ea typeface="Calibri"/>
                <a:cs typeface="Calibri"/>
              </a:rPr>
              <a:t> ekipleriyle takip ediliyor.</a:t>
            </a:r>
          </a:p>
          <a:p>
            <a:pPr>
              <a:lnSpc>
                <a:spcPct val="150000"/>
              </a:lnSpc>
            </a:pPr>
            <a:r>
              <a:rPr lang="tr-TR" sz="1600" b="1" dirty="0" err="1">
                <a:highlight>
                  <a:srgbClr val="FFFFFF"/>
                </a:highlight>
                <a:ea typeface="Calibri"/>
                <a:cs typeface="Calibri"/>
              </a:rPr>
              <a:t>Özşanal</a:t>
            </a:r>
            <a:r>
              <a:rPr lang="tr-TR" sz="1600" b="1" dirty="0">
                <a:highlight>
                  <a:srgbClr val="FFFFFF"/>
                </a:highlight>
                <a:ea typeface="Calibri"/>
                <a:cs typeface="Calibri"/>
              </a:rPr>
              <a:t>:</a:t>
            </a:r>
            <a:r>
              <a:rPr lang="tr-TR" sz="1600" dirty="0">
                <a:highlight>
                  <a:srgbClr val="FFFFFF"/>
                </a:highlight>
                <a:ea typeface="Calibri"/>
                <a:cs typeface="Calibri"/>
              </a:rPr>
              <a:t> A80 ile POC tarihi için </a:t>
            </a:r>
            <a:r>
              <a:rPr lang="tr-TR" sz="1600" dirty="0" err="1">
                <a:highlight>
                  <a:srgbClr val="FFFFFF"/>
                </a:highlight>
                <a:ea typeface="Calibri"/>
                <a:cs typeface="Calibri"/>
              </a:rPr>
              <a:t>Paramtech</a:t>
            </a:r>
            <a:r>
              <a:rPr lang="tr-TR" sz="1600" dirty="0">
                <a:highlight>
                  <a:srgbClr val="FFFFFF"/>
                </a:highlight>
                <a:ea typeface="Calibri"/>
                <a:cs typeface="Calibri"/>
              </a:rPr>
              <a:t> ile görüşüyorlar, bilgi bekliyoruz.</a:t>
            </a:r>
            <a:r>
              <a:rPr lang="tr-TR" sz="1600" dirty="0">
                <a:ea typeface="Calibri"/>
                <a:cs typeface="Calibri"/>
              </a:rPr>
              <a:t> </a:t>
            </a:r>
          </a:p>
          <a:p>
            <a:pPr>
              <a:lnSpc>
                <a:spcPct val="150000"/>
              </a:lnSpc>
            </a:pPr>
            <a:endParaRPr lang="tr-TR" sz="1600" dirty="0">
              <a:highlight>
                <a:srgbClr val="FFFF00"/>
              </a:highlight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tr-TR" sz="1600" dirty="0">
              <a:highlight>
                <a:srgbClr val="FFFF00"/>
              </a:highlight>
              <a:ea typeface="Calibri"/>
              <a:cs typeface="Calibri"/>
            </a:endParaRPr>
          </a:p>
          <a:p>
            <a:endParaRPr lang="tr-TR" sz="1500" dirty="0">
              <a:highlight>
                <a:srgbClr val="FFFF00"/>
              </a:highlight>
              <a:ea typeface="Calibri"/>
              <a:cs typeface="Calibri"/>
            </a:endParaRPr>
          </a:p>
          <a:p>
            <a:endParaRPr lang="tr-TR" sz="1500" dirty="0">
              <a:highlight>
                <a:srgbClr val="FFFF00"/>
              </a:highlight>
              <a:ea typeface="Calibri"/>
              <a:cs typeface="Calibri"/>
            </a:endParaRPr>
          </a:p>
          <a:p>
            <a:endParaRPr lang="tr-TR" sz="1500" dirty="0">
              <a:ea typeface="Calibri"/>
              <a:cs typeface="Calibri"/>
            </a:endParaRPr>
          </a:p>
          <a:p>
            <a:endParaRPr lang="tr-TR" sz="1500" dirty="0">
              <a:ea typeface="Calibri"/>
              <a:cs typeface="Calibri"/>
            </a:endParaRPr>
          </a:p>
          <a:p>
            <a:endParaRPr lang="tr-TR" sz="1600" dirty="0">
              <a:ea typeface="Calibri"/>
              <a:cs typeface="Calibri"/>
            </a:endParaRPr>
          </a:p>
          <a:p>
            <a:endParaRPr lang="tr-TR" sz="1600" dirty="0">
              <a:highlight>
                <a:srgbClr val="FFFF00"/>
              </a:highlight>
              <a:ea typeface="Calibri"/>
              <a:cs typeface="Calibri"/>
            </a:endParaRPr>
          </a:p>
          <a:p>
            <a:endParaRPr lang="tr-TR" sz="1600" dirty="0">
              <a:ea typeface="Calibri"/>
              <a:cs typeface="Calibri"/>
            </a:endParaRPr>
          </a:p>
        </p:txBody>
      </p:sp>
      <p:sp>
        <p:nvSpPr>
          <p:cNvPr id="3" name="Eksi İşareti 2">
            <a:extLst>
              <a:ext uri="{FF2B5EF4-FFF2-40B4-BE49-F238E27FC236}">
                <a16:creationId xmlns:a16="http://schemas.microsoft.com/office/drawing/2014/main" id="{1E405710-34E5-0004-E4F7-06D3C1426CBE}"/>
              </a:ext>
            </a:extLst>
          </p:cNvPr>
          <p:cNvSpPr/>
          <p:nvPr/>
        </p:nvSpPr>
        <p:spPr>
          <a:xfrm flipV="1">
            <a:off x="-261681" y="3144767"/>
            <a:ext cx="4287770" cy="280990"/>
          </a:xfrm>
          <a:prstGeom prst="mathMinus">
            <a:avLst/>
          </a:prstGeom>
          <a:solidFill>
            <a:srgbClr val="1BB5F7"/>
          </a:solidFill>
          <a:ln>
            <a:solidFill>
              <a:srgbClr val="0A9FD4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Eksi İşareti 3">
            <a:extLst>
              <a:ext uri="{FF2B5EF4-FFF2-40B4-BE49-F238E27FC236}">
                <a16:creationId xmlns:a16="http://schemas.microsoft.com/office/drawing/2014/main" id="{DA60F118-73E5-6A79-6FB5-C13B9168457C}"/>
              </a:ext>
            </a:extLst>
          </p:cNvPr>
          <p:cNvSpPr/>
          <p:nvPr/>
        </p:nvSpPr>
        <p:spPr>
          <a:xfrm flipV="1">
            <a:off x="-261681" y="852904"/>
            <a:ext cx="4287770" cy="280990"/>
          </a:xfrm>
          <a:prstGeom prst="mathMinus">
            <a:avLst/>
          </a:prstGeom>
          <a:solidFill>
            <a:srgbClr val="92D050"/>
          </a:solidFill>
          <a:ln>
            <a:solidFill>
              <a:srgbClr val="0A9FD4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2469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C6644-9D72-7AF4-F05E-BD725BBC3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in kutusu 32">
            <a:extLst>
              <a:ext uri="{FF2B5EF4-FFF2-40B4-BE49-F238E27FC236}">
                <a16:creationId xmlns:a16="http://schemas.microsoft.com/office/drawing/2014/main" id="{B2203E11-452C-9103-EB25-6BFB7CFC1AE8}"/>
              </a:ext>
            </a:extLst>
          </p:cNvPr>
          <p:cNvSpPr txBox="1"/>
          <p:nvPr/>
        </p:nvSpPr>
        <p:spPr>
          <a:xfrm>
            <a:off x="116629" y="281345"/>
            <a:ext cx="1054492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tr-TR" sz="3200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Nebim Kullanan Firmalardaki Durumlar 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5211E7E8-E5A2-0E7A-1A77-9F31595D7DA2}"/>
              </a:ext>
            </a:extLst>
          </p:cNvPr>
          <p:cNvSpPr txBox="1"/>
          <p:nvPr/>
        </p:nvSpPr>
        <p:spPr>
          <a:xfrm>
            <a:off x="220752" y="876719"/>
            <a:ext cx="11750496" cy="54508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tr-TR" b="1" dirty="0" err="1"/>
              <a:t>Değerlendirmede</a:t>
            </a:r>
            <a:r>
              <a:rPr lang="tr-TR" b="1" dirty="0"/>
              <a:t> </a:t>
            </a:r>
            <a:endParaRPr lang="en-US" b="1"/>
          </a:p>
          <a:p>
            <a:pPr>
              <a:lnSpc>
                <a:spcPct val="150000"/>
              </a:lnSpc>
            </a:pPr>
            <a:r>
              <a:rPr lang="tr-TR" b="1" dirty="0">
                <a:latin typeface="Calibri"/>
                <a:ea typeface="Calibri"/>
                <a:cs typeface="Calibri"/>
              </a:rPr>
              <a:t>Adil Işık:</a:t>
            </a:r>
            <a:r>
              <a:rPr lang="tr-TR" dirty="0">
                <a:latin typeface="Calibri"/>
                <a:ea typeface="Calibri"/>
                <a:cs typeface="Calibri"/>
              </a:rPr>
              <a:t> 100 A80 potansiyel. Kademeli dönüşüm planı. Muafiyet başvurusu yapılacak.</a:t>
            </a:r>
            <a:br>
              <a:rPr lang="tr-TR" dirty="0">
                <a:latin typeface="Calibri"/>
                <a:ea typeface="Calibri"/>
                <a:cs typeface="Calibri"/>
              </a:rPr>
            </a:br>
            <a:r>
              <a:rPr lang="tr-TR" b="1" dirty="0">
                <a:latin typeface="Calibri"/>
                <a:ea typeface="Calibri"/>
                <a:cs typeface="Calibri"/>
              </a:rPr>
              <a:t>Bella </a:t>
            </a:r>
            <a:r>
              <a:rPr lang="tr-TR" b="1" err="1">
                <a:latin typeface="Calibri"/>
                <a:ea typeface="Calibri"/>
                <a:cs typeface="Calibri"/>
              </a:rPr>
              <a:t>Maison</a:t>
            </a:r>
            <a:r>
              <a:rPr lang="tr-TR" b="1" dirty="0">
                <a:latin typeface="Calibri"/>
                <a:ea typeface="Calibri"/>
                <a:cs typeface="Calibri"/>
              </a:rPr>
              <a:t>:</a:t>
            </a:r>
            <a:r>
              <a:rPr lang="tr-TR" dirty="0">
                <a:latin typeface="Calibri"/>
                <a:ea typeface="Calibri"/>
                <a:cs typeface="Calibri"/>
              </a:rPr>
              <a:t> 50 A80 potansiyel. Yönetim görüşmesi sonrası yol haritası netleşecek.</a:t>
            </a:r>
          </a:p>
          <a:p>
            <a:pPr>
              <a:lnSpc>
                <a:spcPct val="150000"/>
              </a:lnSpc>
            </a:pPr>
            <a:r>
              <a:rPr lang="tr-TR" b="1" dirty="0" err="1">
                <a:latin typeface="Calibri"/>
                <a:ea typeface="Calibri"/>
                <a:cs typeface="Calibri"/>
              </a:rPr>
              <a:t>Dagi</a:t>
            </a:r>
            <a:r>
              <a:rPr lang="tr-TR" b="1" dirty="0">
                <a:latin typeface="Calibri"/>
                <a:ea typeface="Calibri"/>
                <a:cs typeface="Calibri"/>
              </a:rPr>
              <a:t>:</a:t>
            </a:r>
            <a:r>
              <a:rPr lang="tr-TR" dirty="0">
                <a:latin typeface="Calibri"/>
                <a:ea typeface="Calibri"/>
                <a:cs typeface="Calibri"/>
              </a:rPr>
              <a:t> 160 A80 + 50 A6650 </a:t>
            </a:r>
            <a:r>
              <a:rPr lang="tr-TR" dirty="0" err="1">
                <a:latin typeface="Calibri"/>
                <a:ea typeface="Calibri"/>
                <a:cs typeface="Calibri"/>
              </a:rPr>
              <a:t>potansiyel</a:t>
            </a:r>
            <a:r>
              <a:rPr lang="tr-TR" dirty="0">
                <a:latin typeface="Calibri"/>
                <a:ea typeface="Calibri"/>
                <a:cs typeface="Calibri"/>
              </a:rPr>
              <a:t>. Haziran </a:t>
            </a:r>
            <a:r>
              <a:rPr lang="tr-TR" dirty="0" err="1">
                <a:latin typeface="Calibri"/>
                <a:ea typeface="Calibri"/>
                <a:cs typeface="Calibri"/>
              </a:rPr>
              <a:t>ayında</a:t>
            </a:r>
            <a:r>
              <a:rPr lang="tr-TR" dirty="0">
                <a:latin typeface="Calibri"/>
                <a:ea typeface="Calibri"/>
                <a:cs typeface="Calibri"/>
              </a:rPr>
              <a:t> </a:t>
            </a:r>
            <a:r>
              <a:rPr lang="tr-TR" dirty="0" err="1">
                <a:latin typeface="Calibri"/>
                <a:ea typeface="Calibri"/>
                <a:cs typeface="Calibri"/>
              </a:rPr>
              <a:t>oluşacak</a:t>
            </a:r>
            <a:r>
              <a:rPr lang="tr-TR" dirty="0">
                <a:latin typeface="Calibri"/>
                <a:ea typeface="Calibri"/>
                <a:cs typeface="Calibri"/>
              </a:rPr>
              <a:t> </a:t>
            </a:r>
            <a:r>
              <a:rPr lang="tr-TR" dirty="0" err="1">
                <a:latin typeface="Calibri"/>
                <a:ea typeface="Calibri"/>
                <a:cs typeface="Calibri"/>
              </a:rPr>
              <a:t>bütçe</a:t>
            </a:r>
            <a:r>
              <a:rPr lang="tr-TR" dirty="0">
                <a:latin typeface="Calibri"/>
                <a:ea typeface="Calibri"/>
                <a:cs typeface="Calibri"/>
              </a:rPr>
              <a:t> </a:t>
            </a:r>
            <a:r>
              <a:rPr lang="tr-TR" dirty="0" err="1">
                <a:latin typeface="Calibri"/>
                <a:ea typeface="Calibri"/>
                <a:cs typeface="Calibri"/>
              </a:rPr>
              <a:t>ile</a:t>
            </a:r>
            <a:r>
              <a:rPr lang="tr-TR" dirty="0">
                <a:latin typeface="Calibri"/>
                <a:ea typeface="Calibri"/>
                <a:cs typeface="Calibri"/>
              </a:rPr>
              <a:t> A6650 </a:t>
            </a:r>
            <a:r>
              <a:rPr lang="tr-TR" dirty="0" err="1">
                <a:latin typeface="Calibri"/>
                <a:ea typeface="Calibri"/>
                <a:cs typeface="Calibri"/>
              </a:rPr>
              <a:t>için</a:t>
            </a:r>
            <a:r>
              <a:rPr lang="tr-TR" dirty="0">
                <a:latin typeface="Calibri"/>
                <a:ea typeface="Calibri"/>
                <a:cs typeface="Calibri"/>
              </a:rPr>
              <a:t> </a:t>
            </a:r>
            <a:r>
              <a:rPr lang="tr-TR" dirty="0" err="1">
                <a:latin typeface="Calibri"/>
                <a:ea typeface="Calibri"/>
                <a:cs typeface="Calibri"/>
              </a:rPr>
              <a:t>parçalı</a:t>
            </a:r>
            <a:r>
              <a:rPr lang="tr-TR" dirty="0">
                <a:latin typeface="Calibri"/>
                <a:ea typeface="Calibri"/>
                <a:cs typeface="Calibri"/>
              </a:rPr>
              <a:t> </a:t>
            </a:r>
            <a:r>
              <a:rPr lang="tr-TR" dirty="0" err="1">
                <a:latin typeface="Calibri"/>
                <a:ea typeface="Calibri"/>
                <a:cs typeface="Calibri"/>
              </a:rPr>
              <a:t>alım</a:t>
            </a:r>
            <a:r>
              <a:rPr lang="tr-TR" dirty="0">
                <a:latin typeface="Calibri"/>
                <a:ea typeface="Calibri"/>
                <a:cs typeface="Calibri"/>
              </a:rPr>
              <a:t> </a:t>
            </a:r>
            <a:r>
              <a:rPr lang="tr-TR" dirty="0" err="1">
                <a:latin typeface="Calibri"/>
                <a:ea typeface="Calibri"/>
                <a:cs typeface="Calibri"/>
              </a:rPr>
              <a:t>planlanıyor</a:t>
            </a:r>
            <a:r>
              <a:rPr lang="tr-TR" dirty="0"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tr-TR" b="1" err="1">
                <a:latin typeface="Calibri"/>
                <a:ea typeface="Calibri"/>
                <a:cs typeface="Calibri"/>
              </a:rPr>
              <a:t>Bluemint</a:t>
            </a:r>
            <a:r>
              <a:rPr lang="tr-TR" b="1" dirty="0">
                <a:latin typeface="Calibri"/>
                <a:ea typeface="Calibri"/>
                <a:cs typeface="Calibri"/>
              </a:rPr>
              <a:t>:</a:t>
            </a:r>
            <a:r>
              <a:rPr lang="tr-TR" dirty="0">
                <a:latin typeface="Calibri"/>
                <a:ea typeface="Calibri"/>
                <a:cs typeface="Calibri"/>
              </a:rPr>
              <a:t> 41 mağaza. Bütçe nedeniyle Haziran’da tekrar değerlendirme.</a:t>
            </a:r>
            <a:br>
              <a:rPr lang="tr-TR" dirty="0">
                <a:latin typeface="Calibri"/>
                <a:ea typeface="Calibri"/>
                <a:cs typeface="Calibri"/>
              </a:rPr>
            </a:br>
            <a:r>
              <a:rPr lang="tr-TR" b="1" dirty="0">
                <a:latin typeface="Calibri"/>
                <a:ea typeface="Calibri"/>
                <a:cs typeface="Calibri"/>
              </a:rPr>
              <a:t>Ender Mağazaları:</a:t>
            </a:r>
            <a:r>
              <a:rPr lang="tr-TR" dirty="0">
                <a:latin typeface="Calibri"/>
                <a:ea typeface="Calibri"/>
                <a:cs typeface="Calibri"/>
              </a:rPr>
              <a:t> 100 A80 potansiyel. EFT-POS dönüşümü ve muafiyet araştırılıyor.</a:t>
            </a:r>
          </a:p>
          <a:p>
            <a:pPr>
              <a:lnSpc>
                <a:spcPct val="150000"/>
              </a:lnSpc>
            </a:pPr>
            <a:r>
              <a:rPr lang="tr-TR" b="1" dirty="0">
                <a:latin typeface="Calibri"/>
                <a:ea typeface="Calibri"/>
                <a:cs typeface="Calibri"/>
              </a:rPr>
              <a:t>Elle </a:t>
            </a:r>
            <a:r>
              <a:rPr lang="tr-TR" b="1" err="1">
                <a:latin typeface="Calibri"/>
                <a:ea typeface="Calibri"/>
                <a:cs typeface="Calibri"/>
              </a:rPr>
              <a:t>Shoes</a:t>
            </a:r>
            <a:r>
              <a:rPr lang="tr-TR" b="1" dirty="0">
                <a:latin typeface="Calibri"/>
                <a:ea typeface="Calibri"/>
                <a:cs typeface="Calibri"/>
              </a:rPr>
              <a:t>:</a:t>
            </a:r>
            <a:r>
              <a:rPr lang="tr-TR" dirty="0">
                <a:latin typeface="Calibri"/>
                <a:ea typeface="Calibri"/>
                <a:cs typeface="Calibri"/>
              </a:rPr>
              <a:t> 60 A80 potansiyel. Yönetimin muafiyet konusuna sıcak bakması halinde A80 için çalışmalar başlayacaktır.</a:t>
            </a:r>
            <a:br>
              <a:rPr lang="tr-TR" dirty="0">
                <a:latin typeface="Calibri"/>
                <a:ea typeface="Calibri"/>
                <a:cs typeface="Calibri"/>
              </a:rPr>
            </a:br>
            <a:r>
              <a:rPr lang="tr-TR" b="1" err="1">
                <a:latin typeface="Calibri"/>
                <a:ea typeface="Calibri"/>
                <a:cs typeface="Calibri"/>
              </a:rPr>
              <a:t>Lufian</a:t>
            </a:r>
            <a:r>
              <a:rPr lang="tr-TR" b="1" dirty="0">
                <a:latin typeface="Calibri"/>
                <a:ea typeface="Calibri"/>
                <a:cs typeface="Calibri"/>
              </a:rPr>
              <a:t>:</a:t>
            </a:r>
            <a:r>
              <a:rPr lang="tr-TR" dirty="0">
                <a:latin typeface="Calibri"/>
                <a:ea typeface="Calibri"/>
                <a:cs typeface="Calibri"/>
              </a:rPr>
              <a:t> Şirket devri sonrası karar verilecek. ÖKC olmazsa EFT-POS opsiyonu.</a:t>
            </a:r>
            <a:br>
              <a:rPr lang="tr-TR" dirty="0">
                <a:latin typeface="Calibri"/>
                <a:ea typeface="Calibri"/>
                <a:cs typeface="Calibri"/>
              </a:rPr>
            </a:br>
            <a:r>
              <a:rPr lang="tr-TR" b="1" dirty="0">
                <a:latin typeface="Calibri"/>
                <a:ea typeface="Calibri"/>
                <a:cs typeface="Calibri"/>
              </a:rPr>
              <a:t>Süvari:</a:t>
            </a:r>
            <a:r>
              <a:rPr lang="tr-TR" dirty="0">
                <a:latin typeface="Calibri"/>
                <a:ea typeface="Calibri"/>
                <a:cs typeface="Calibri"/>
              </a:rPr>
              <a:t> Muafiyete başvurusu yapıldı bilgi bekleniyor. Eş zamanlı olarak banka terminali muafiyeti konularını görüşüyorlar.</a:t>
            </a:r>
          </a:p>
          <a:p>
            <a:pPr>
              <a:lnSpc>
                <a:spcPct val="150000"/>
              </a:lnSpc>
            </a:pPr>
            <a:r>
              <a:rPr lang="tr-TR" b="1" dirty="0" err="1">
                <a:latin typeface="Calibri"/>
                <a:ea typeface="Calibri"/>
                <a:cs typeface="Calibri"/>
              </a:rPr>
              <a:t>Twigy</a:t>
            </a:r>
            <a:r>
              <a:rPr lang="tr-TR" b="1" dirty="0">
                <a:latin typeface="Calibri"/>
                <a:ea typeface="Calibri"/>
                <a:cs typeface="Calibri"/>
              </a:rPr>
              <a:t>:</a:t>
            </a:r>
            <a:r>
              <a:rPr lang="tr-TR" dirty="0">
                <a:latin typeface="Calibri"/>
                <a:ea typeface="Calibri"/>
                <a:cs typeface="Calibri"/>
              </a:rPr>
              <a:t> </a:t>
            </a:r>
            <a:r>
              <a:rPr lang="tr-TR" dirty="0" err="1">
                <a:latin typeface="Calibri"/>
                <a:ea typeface="+mn-lt"/>
                <a:cs typeface="+mn-lt"/>
              </a:rPr>
              <a:t>Firma</a:t>
            </a:r>
            <a:r>
              <a:rPr lang="tr-TR" dirty="0">
                <a:latin typeface="Calibri"/>
                <a:ea typeface="+mn-lt"/>
                <a:cs typeface="+mn-lt"/>
              </a:rPr>
              <a:t> </a:t>
            </a:r>
            <a:r>
              <a:rPr lang="tr-TR" dirty="0" err="1">
                <a:latin typeface="Calibri"/>
                <a:ea typeface="+mn-lt"/>
                <a:cs typeface="+mn-lt"/>
              </a:rPr>
              <a:t>teknoloji</a:t>
            </a:r>
            <a:r>
              <a:rPr lang="tr-TR" dirty="0">
                <a:latin typeface="Calibri"/>
                <a:ea typeface="+mn-lt"/>
                <a:cs typeface="+mn-lt"/>
              </a:rPr>
              <a:t> </a:t>
            </a:r>
            <a:r>
              <a:rPr lang="tr-TR" dirty="0" err="1">
                <a:latin typeface="Calibri"/>
                <a:ea typeface="+mn-lt"/>
                <a:cs typeface="+mn-lt"/>
              </a:rPr>
              <a:t>yatırımını</a:t>
            </a:r>
            <a:r>
              <a:rPr lang="tr-TR" dirty="0">
                <a:latin typeface="Calibri"/>
                <a:ea typeface="+mn-lt"/>
                <a:cs typeface="+mn-lt"/>
              </a:rPr>
              <a:t> </a:t>
            </a:r>
            <a:r>
              <a:rPr lang="tr-TR" dirty="0" err="1">
                <a:latin typeface="Calibri"/>
                <a:ea typeface="+mn-lt"/>
                <a:cs typeface="+mn-lt"/>
              </a:rPr>
              <a:t>yakın</a:t>
            </a:r>
            <a:r>
              <a:rPr lang="tr-TR" dirty="0">
                <a:latin typeface="Calibri"/>
                <a:ea typeface="+mn-lt"/>
                <a:cs typeface="+mn-lt"/>
              </a:rPr>
              <a:t> </a:t>
            </a:r>
            <a:r>
              <a:rPr lang="tr-TR" dirty="0" err="1">
                <a:latin typeface="Calibri"/>
                <a:ea typeface="+mn-lt"/>
                <a:cs typeface="+mn-lt"/>
              </a:rPr>
              <a:t>dönemde</a:t>
            </a:r>
            <a:r>
              <a:rPr lang="tr-TR" dirty="0">
                <a:latin typeface="Calibri"/>
                <a:ea typeface="+mn-lt"/>
                <a:cs typeface="+mn-lt"/>
              </a:rPr>
              <a:t> </a:t>
            </a:r>
            <a:r>
              <a:rPr lang="tr-TR" dirty="0" err="1">
                <a:latin typeface="Calibri"/>
                <a:ea typeface="+mn-lt"/>
                <a:cs typeface="+mn-lt"/>
              </a:rPr>
              <a:t>tamamladığını</a:t>
            </a:r>
            <a:r>
              <a:rPr lang="tr-TR" dirty="0">
                <a:latin typeface="Calibri"/>
                <a:ea typeface="+mn-lt"/>
                <a:cs typeface="+mn-lt"/>
              </a:rPr>
              <a:t> </a:t>
            </a:r>
            <a:r>
              <a:rPr lang="tr-TR" dirty="0" err="1">
                <a:latin typeface="Calibri"/>
                <a:ea typeface="+mn-lt"/>
                <a:cs typeface="+mn-lt"/>
              </a:rPr>
              <a:t>ve</a:t>
            </a:r>
            <a:r>
              <a:rPr lang="tr-TR" dirty="0">
                <a:latin typeface="Calibri"/>
                <a:ea typeface="+mn-lt"/>
                <a:cs typeface="+mn-lt"/>
              </a:rPr>
              <a:t> </a:t>
            </a:r>
            <a:r>
              <a:rPr lang="tr-TR" dirty="0" err="1">
                <a:latin typeface="Calibri"/>
                <a:ea typeface="+mn-lt"/>
                <a:cs typeface="+mn-lt"/>
              </a:rPr>
              <a:t>mevcut</a:t>
            </a:r>
            <a:r>
              <a:rPr lang="tr-TR" dirty="0">
                <a:latin typeface="Calibri"/>
                <a:ea typeface="+mn-lt"/>
                <a:cs typeface="+mn-lt"/>
              </a:rPr>
              <a:t> </a:t>
            </a:r>
            <a:r>
              <a:rPr lang="tr-TR" dirty="0" err="1">
                <a:latin typeface="Calibri"/>
                <a:ea typeface="+mn-lt"/>
                <a:cs typeface="+mn-lt"/>
              </a:rPr>
              <a:t>finansal</a:t>
            </a:r>
            <a:r>
              <a:rPr lang="tr-TR" dirty="0">
                <a:latin typeface="Calibri"/>
                <a:ea typeface="+mn-lt"/>
                <a:cs typeface="+mn-lt"/>
              </a:rPr>
              <a:t> durum </a:t>
            </a:r>
            <a:r>
              <a:rPr lang="tr-TR" dirty="0" err="1">
                <a:latin typeface="Calibri"/>
                <a:ea typeface="+mn-lt"/>
                <a:cs typeface="+mn-lt"/>
              </a:rPr>
              <a:t>nedeniyle</a:t>
            </a:r>
            <a:r>
              <a:rPr lang="tr-TR" dirty="0">
                <a:latin typeface="Calibri"/>
                <a:ea typeface="+mn-lt"/>
                <a:cs typeface="+mn-lt"/>
              </a:rPr>
              <a:t> </a:t>
            </a:r>
            <a:r>
              <a:rPr lang="tr-TR" dirty="0" err="1">
                <a:latin typeface="Calibri"/>
                <a:ea typeface="+mn-lt"/>
                <a:cs typeface="+mn-lt"/>
              </a:rPr>
              <a:t>kısa</a:t>
            </a:r>
            <a:r>
              <a:rPr lang="tr-TR" dirty="0">
                <a:latin typeface="Calibri"/>
                <a:ea typeface="+mn-lt"/>
                <a:cs typeface="+mn-lt"/>
              </a:rPr>
              <a:t> </a:t>
            </a:r>
            <a:r>
              <a:rPr lang="tr-TR" dirty="0" err="1">
                <a:latin typeface="Calibri"/>
                <a:ea typeface="+mn-lt"/>
                <a:cs typeface="+mn-lt"/>
              </a:rPr>
              <a:t>vadede</a:t>
            </a:r>
            <a:r>
              <a:rPr lang="tr-TR" dirty="0">
                <a:latin typeface="Calibri"/>
                <a:ea typeface="+mn-lt"/>
                <a:cs typeface="+mn-lt"/>
              </a:rPr>
              <a:t> yeni </a:t>
            </a:r>
            <a:r>
              <a:rPr lang="tr-TR" dirty="0" err="1">
                <a:latin typeface="Calibri"/>
                <a:ea typeface="+mn-lt"/>
                <a:cs typeface="+mn-lt"/>
              </a:rPr>
              <a:t>bir</a:t>
            </a:r>
            <a:r>
              <a:rPr lang="tr-TR" dirty="0">
                <a:latin typeface="Calibri"/>
                <a:ea typeface="+mn-lt"/>
                <a:cs typeface="+mn-lt"/>
              </a:rPr>
              <a:t> </a:t>
            </a:r>
            <a:r>
              <a:rPr lang="tr-TR" dirty="0" err="1">
                <a:latin typeface="Calibri"/>
                <a:ea typeface="+mn-lt"/>
                <a:cs typeface="+mn-lt"/>
              </a:rPr>
              <a:t>yatırım</a:t>
            </a:r>
            <a:r>
              <a:rPr lang="tr-TR" dirty="0">
                <a:latin typeface="Calibri"/>
                <a:ea typeface="+mn-lt"/>
                <a:cs typeface="+mn-lt"/>
              </a:rPr>
              <a:t> </a:t>
            </a:r>
            <a:r>
              <a:rPr lang="tr-TR" dirty="0" err="1">
                <a:latin typeface="Calibri"/>
                <a:ea typeface="+mn-lt"/>
                <a:cs typeface="+mn-lt"/>
              </a:rPr>
              <a:t>planlamadığını</a:t>
            </a:r>
            <a:r>
              <a:rPr lang="tr-TR" dirty="0">
                <a:latin typeface="Calibri"/>
                <a:ea typeface="+mn-lt"/>
                <a:cs typeface="+mn-lt"/>
              </a:rPr>
              <a:t> </a:t>
            </a:r>
            <a:r>
              <a:rPr lang="tr-TR" dirty="0" err="1">
                <a:latin typeface="Calibri"/>
                <a:ea typeface="+mn-lt"/>
                <a:cs typeface="+mn-lt"/>
              </a:rPr>
              <a:t>belirtmiştir</a:t>
            </a:r>
            <a:r>
              <a:rPr lang="tr-TR" dirty="0">
                <a:latin typeface="Calibri"/>
                <a:ea typeface="+mn-lt"/>
                <a:cs typeface="+mn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tr-TR" b="1" dirty="0">
                <a:latin typeface="Calibri"/>
                <a:ea typeface="Calibri"/>
                <a:cs typeface="Calibri"/>
              </a:rPr>
              <a:t>UKİ: </a:t>
            </a:r>
            <a:r>
              <a:rPr lang="tr-TR">
                <a:latin typeface="Calibri"/>
                <a:ea typeface="Calibri"/>
                <a:cs typeface="Calibri"/>
              </a:rPr>
              <a:t>30 </a:t>
            </a:r>
            <a:r>
              <a:rPr lang="tr-TR" err="1">
                <a:latin typeface="Calibri"/>
                <a:ea typeface="Calibri"/>
                <a:cs typeface="Calibri"/>
              </a:rPr>
              <a:t>adet</a:t>
            </a:r>
            <a:r>
              <a:rPr lang="tr-TR">
                <a:latin typeface="Calibri"/>
                <a:ea typeface="Calibri"/>
                <a:cs typeface="Calibri"/>
              </a:rPr>
              <a:t> A6650 </a:t>
            </a:r>
            <a:r>
              <a:rPr lang="tr-TR" err="1">
                <a:latin typeface="Calibri"/>
                <a:ea typeface="Calibri"/>
                <a:cs typeface="Calibri"/>
              </a:rPr>
              <a:t>potansiyel</a:t>
            </a:r>
            <a:r>
              <a:rPr lang="tr-TR">
                <a:latin typeface="Calibri"/>
                <a:ea typeface="Calibri"/>
                <a:cs typeface="Calibri"/>
              </a:rPr>
              <a:t>. El </a:t>
            </a:r>
            <a:r>
              <a:rPr lang="tr-TR" err="1">
                <a:latin typeface="Calibri"/>
                <a:ea typeface="Calibri"/>
                <a:cs typeface="Calibri"/>
              </a:rPr>
              <a:t>terminali</a:t>
            </a:r>
            <a:r>
              <a:rPr lang="tr-TR" dirty="0">
                <a:latin typeface="Calibri"/>
                <a:ea typeface="Calibri"/>
                <a:cs typeface="Calibri"/>
              </a:rPr>
              <a:t> </a:t>
            </a:r>
            <a:r>
              <a:rPr lang="tr-TR" err="1">
                <a:latin typeface="Calibri"/>
                <a:ea typeface="Calibri"/>
                <a:cs typeface="Calibri"/>
              </a:rPr>
              <a:t>yatırımına</a:t>
            </a:r>
            <a:r>
              <a:rPr lang="tr-TR" dirty="0">
                <a:latin typeface="Calibri"/>
                <a:ea typeface="Calibri"/>
                <a:cs typeface="Calibri"/>
              </a:rPr>
              <a:t> </a:t>
            </a:r>
            <a:r>
              <a:rPr lang="tr-TR" err="1">
                <a:latin typeface="Calibri"/>
                <a:ea typeface="Calibri"/>
                <a:cs typeface="Calibri"/>
              </a:rPr>
              <a:t>yönelik</a:t>
            </a:r>
            <a:r>
              <a:rPr lang="tr-TR" dirty="0">
                <a:latin typeface="Calibri"/>
                <a:ea typeface="Calibri"/>
                <a:cs typeface="Calibri"/>
              </a:rPr>
              <a:t> </a:t>
            </a:r>
            <a:r>
              <a:rPr lang="tr-TR" err="1">
                <a:latin typeface="Calibri"/>
                <a:ea typeface="Calibri"/>
                <a:cs typeface="Calibri"/>
              </a:rPr>
              <a:t>değerlendirme</a:t>
            </a:r>
            <a:r>
              <a:rPr lang="tr-TR" dirty="0">
                <a:latin typeface="Calibri"/>
                <a:ea typeface="Calibri"/>
                <a:cs typeface="Calibri"/>
              </a:rPr>
              <a:t> </a:t>
            </a:r>
            <a:r>
              <a:rPr lang="tr-TR" err="1">
                <a:latin typeface="Calibri"/>
                <a:ea typeface="Calibri"/>
                <a:cs typeface="Calibri"/>
              </a:rPr>
              <a:t>yapılmaktadır</a:t>
            </a:r>
            <a:r>
              <a:rPr lang="tr-TR">
                <a:latin typeface="Calibri"/>
                <a:ea typeface="Calibri"/>
                <a:cs typeface="Calibri"/>
              </a:rPr>
              <a:t>. Haziran </a:t>
            </a:r>
            <a:r>
              <a:rPr lang="tr-TR" err="1">
                <a:latin typeface="Calibri"/>
                <a:ea typeface="Calibri"/>
                <a:cs typeface="Calibri"/>
              </a:rPr>
              <a:t>sonu</a:t>
            </a:r>
            <a:r>
              <a:rPr lang="tr-TR" dirty="0">
                <a:latin typeface="Calibri"/>
                <a:ea typeface="Calibri"/>
                <a:cs typeface="Calibri"/>
              </a:rPr>
              <a:t> </a:t>
            </a:r>
            <a:r>
              <a:rPr lang="tr-TR" err="1">
                <a:latin typeface="Calibri"/>
                <a:ea typeface="Calibri"/>
                <a:cs typeface="Calibri"/>
              </a:rPr>
              <a:t>tekrardan</a:t>
            </a:r>
            <a:r>
              <a:rPr lang="tr-TR" dirty="0">
                <a:latin typeface="Calibri"/>
                <a:ea typeface="Calibri"/>
                <a:cs typeface="Calibri"/>
              </a:rPr>
              <a:t> </a:t>
            </a:r>
            <a:r>
              <a:rPr lang="tr-TR" err="1">
                <a:latin typeface="Calibri"/>
                <a:ea typeface="Calibri"/>
                <a:cs typeface="Calibri"/>
              </a:rPr>
              <a:t>ziyaret</a:t>
            </a:r>
            <a:r>
              <a:rPr lang="tr-TR" dirty="0">
                <a:latin typeface="Calibri"/>
                <a:ea typeface="Calibri"/>
                <a:cs typeface="Calibri"/>
              </a:rPr>
              <a:t> </a:t>
            </a:r>
            <a:r>
              <a:rPr lang="tr-TR" err="1">
                <a:latin typeface="Calibri"/>
                <a:ea typeface="Calibri"/>
                <a:cs typeface="Calibri"/>
              </a:rPr>
              <a:t>edilecektir</a:t>
            </a:r>
            <a:r>
              <a:rPr lang="tr-TR"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" name="Eksi İşareti 2">
            <a:extLst>
              <a:ext uri="{FF2B5EF4-FFF2-40B4-BE49-F238E27FC236}">
                <a16:creationId xmlns:a16="http://schemas.microsoft.com/office/drawing/2014/main" id="{6D037056-A71E-4338-8A77-9DD84D82964A}"/>
              </a:ext>
            </a:extLst>
          </p:cNvPr>
          <p:cNvSpPr/>
          <p:nvPr/>
        </p:nvSpPr>
        <p:spPr>
          <a:xfrm flipV="1">
            <a:off x="-271206" y="733765"/>
            <a:ext cx="4287770" cy="280990"/>
          </a:xfrm>
          <a:prstGeom prst="mathMinus">
            <a:avLst/>
          </a:prstGeom>
          <a:solidFill>
            <a:srgbClr val="FFC000"/>
          </a:solidFill>
          <a:ln>
            <a:solidFill>
              <a:srgbClr val="0A9FD4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1411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90990-1151-5E4B-DAA0-6A59BB4EC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in kutusu 32">
            <a:extLst>
              <a:ext uri="{FF2B5EF4-FFF2-40B4-BE49-F238E27FC236}">
                <a16:creationId xmlns:a16="http://schemas.microsoft.com/office/drawing/2014/main" id="{EC29DD2C-C050-661F-C7D4-5F6896DA6B02}"/>
              </a:ext>
            </a:extLst>
          </p:cNvPr>
          <p:cNvSpPr txBox="1"/>
          <p:nvPr/>
        </p:nvSpPr>
        <p:spPr>
          <a:xfrm>
            <a:off x="116629" y="281345"/>
            <a:ext cx="1054492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tr-TR" sz="3200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Nebim Kullanan Firmalardaki Durumlar 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FD701B02-F47E-F98B-AA75-5E2039E8F17A}"/>
              </a:ext>
            </a:extLst>
          </p:cNvPr>
          <p:cNvSpPr txBox="1"/>
          <p:nvPr/>
        </p:nvSpPr>
        <p:spPr>
          <a:xfrm>
            <a:off x="220752" y="876719"/>
            <a:ext cx="11750496" cy="79716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tr-TR" b="1" dirty="0"/>
              <a:t>Değerlendirmede </a:t>
            </a:r>
            <a:endParaRPr lang="tr-TR" b="1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tr-TR" b="1">
                <a:ea typeface="+mn-lt"/>
                <a:cs typeface="+mn-lt"/>
              </a:rPr>
              <a:t>Yves Rocher: </a:t>
            </a:r>
            <a:r>
              <a:rPr lang="tr-TR">
                <a:ea typeface="+mn-lt"/>
                <a:cs typeface="+mn-lt"/>
              </a:rPr>
              <a:t>300 adet A80 potansiyel. Toplantı için takvim bekleniyor.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tr-TR" b="1">
                <a:ea typeface="+mn-lt"/>
                <a:cs typeface="+mn-lt"/>
              </a:rPr>
              <a:t>GS Store: </a:t>
            </a:r>
            <a:r>
              <a:rPr lang="tr-TR">
                <a:ea typeface="+mn-lt"/>
                <a:cs typeface="+mn-lt"/>
              </a:rPr>
              <a:t>150 A80 + 100 A6650 potansiyel. mevcut ödeme yapısı değerlendirildi. Sezonun Haziran’da kapanması sonrası yeniden ziyaret planlanıyor; muafiyet başlığı finans ekibiyle netleştirilecek.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tr-TR" b="1">
                <a:ea typeface="+mn-lt"/>
                <a:cs typeface="+mn-lt"/>
              </a:rPr>
              <a:t>Çift Geyik Karaca</a:t>
            </a:r>
            <a:r>
              <a:rPr lang="tr-TR">
                <a:ea typeface="+mn-lt"/>
                <a:cs typeface="+mn-lt"/>
              </a:rPr>
              <a:t>: Platform’da “Öncelikli Banka” sorunu yeni versiyonla giderildi.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tr-TR" b="1">
                <a:ea typeface="+mn-lt"/>
                <a:cs typeface="+mn-lt"/>
              </a:rPr>
              <a:t>RAMSEY KİP:</a:t>
            </a:r>
            <a:r>
              <a:rPr lang="tr-TR">
                <a:ea typeface="+mn-lt"/>
                <a:cs typeface="+mn-lt"/>
              </a:rPr>
              <a:t> 150 A6650 potansiyel. Muafiyet başvurusu yapıldı, A6650'de testlere devam ediliyor.</a:t>
            </a:r>
          </a:p>
          <a:p>
            <a:pPr>
              <a:lnSpc>
                <a:spcPct val="150000"/>
              </a:lnSpc>
            </a:pPr>
            <a:r>
              <a:rPr lang="tr-TR" b="1">
                <a:ea typeface="+mn-lt"/>
                <a:cs typeface="+mn-lt"/>
              </a:rPr>
              <a:t>Lee Cooper - </a:t>
            </a:r>
            <a:r>
              <a:rPr lang="tr-TR">
                <a:ea typeface="+mn-lt"/>
                <a:cs typeface="+mn-lt"/>
              </a:rPr>
              <a:t>50 A920 PRO + 50 A6650 potansiyel. Finans ekibinden muafiyet sorgusu dönüşü bekleniyor; gelen bilgiye istinaden POC planlanacaktır.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tr-TR" b="1">
                <a:ea typeface="+mn-lt"/>
                <a:cs typeface="+mn-lt"/>
              </a:rPr>
              <a:t>Skechers –</a:t>
            </a:r>
            <a:r>
              <a:rPr lang="tr-TR">
                <a:ea typeface="+mn-lt"/>
                <a:cs typeface="+mn-lt"/>
              </a:rPr>
              <a:t> A6650 konsinye olarak teslim edilmiştir.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tr-TR" b="1">
                <a:ea typeface="Calibri"/>
                <a:cs typeface="Calibri"/>
              </a:rPr>
              <a:t>Lescon –</a:t>
            </a:r>
            <a:r>
              <a:rPr lang="tr-TR">
                <a:ea typeface="Calibri"/>
                <a:cs typeface="Calibri"/>
              </a:rPr>
              <a:t> 150 adet cihaz için Paramtech ile görüşülüyor. Teklif iletilmiştir.</a:t>
            </a:r>
            <a:endParaRPr lang="en-US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tr-TR" b="1">
                <a:ea typeface="Calibri"/>
                <a:cs typeface="Calibri"/>
              </a:rPr>
              <a:t>Damat Tween –</a:t>
            </a:r>
            <a:r>
              <a:rPr lang="tr-TR">
                <a:ea typeface="Calibri"/>
                <a:cs typeface="Calibri"/>
              </a:rPr>
              <a:t> Muafiyet için finans ekiplerinden bilgi bekleniyor. </a:t>
            </a:r>
          </a:p>
          <a:p>
            <a:pPr>
              <a:lnSpc>
                <a:spcPct val="150000"/>
              </a:lnSpc>
            </a:pPr>
            <a:r>
              <a:rPr lang="tr-TR" b="1">
                <a:ea typeface="Calibri"/>
                <a:cs typeface="Calibri"/>
              </a:rPr>
              <a:t>GİZİA:</a:t>
            </a:r>
            <a:r>
              <a:rPr lang="tr-TR">
                <a:ea typeface="Calibri"/>
                <a:cs typeface="Calibri"/>
              </a:rPr>
              <a:t> IT görüşmesi tamam; finans katılımlı toplantı planlanıyor.</a:t>
            </a:r>
          </a:p>
          <a:p>
            <a:pPr>
              <a:lnSpc>
                <a:spcPct val="150000"/>
              </a:lnSpc>
            </a:pPr>
            <a:r>
              <a:rPr lang="tr-TR" b="1">
                <a:ea typeface="Calibri"/>
                <a:cs typeface="Calibri"/>
              </a:rPr>
              <a:t>SPX:</a:t>
            </a:r>
            <a:r>
              <a:rPr lang="tr-TR">
                <a:ea typeface="Calibri"/>
                <a:cs typeface="Calibri"/>
              </a:rPr>
              <a:t> IT ekibiyle toplantı takvimi oluşturulmuştur.</a:t>
            </a:r>
          </a:p>
          <a:p>
            <a:pPr>
              <a:lnSpc>
                <a:spcPct val="150000"/>
              </a:lnSpc>
            </a:pPr>
            <a:r>
              <a:rPr lang="tr-TR" b="1">
                <a:ea typeface="Calibri"/>
                <a:cs typeface="Calibri"/>
              </a:rPr>
              <a:t>GUSTO</a:t>
            </a:r>
            <a:r>
              <a:rPr lang="tr-TR">
                <a:ea typeface="Calibri"/>
                <a:cs typeface="Calibri"/>
              </a:rPr>
              <a:t>: IT ekibi ile toplantı gerçekleştirildi; muafiyet süreci kapsamında finans ekibi ile görüşme planlanıyor.</a:t>
            </a:r>
            <a:endParaRPr lang="tr-TR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tr-TR" sz="16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tr-TR"/>
          </a:p>
          <a:p>
            <a:pPr>
              <a:lnSpc>
                <a:spcPct val="150000"/>
              </a:lnSpc>
            </a:pPr>
            <a:endParaRPr lang="tr-TR" sz="16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tr-TR" sz="1300" dirty="0">
              <a:highlight>
                <a:srgbClr val="FFFF00"/>
              </a:highlight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tr-TR" sz="1400" dirty="0">
              <a:highlight>
                <a:srgbClr val="FFFF00"/>
              </a:highlight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tr-TR" sz="1600" dirty="0">
              <a:ea typeface="Calibri"/>
              <a:cs typeface="Calibri"/>
            </a:endParaRPr>
          </a:p>
        </p:txBody>
      </p:sp>
      <p:sp>
        <p:nvSpPr>
          <p:cNvPr id="3" name="Eksi İşareti 2">
            <a:extLst>
              <a:ext uri="{FF2B5EF4-FFF2-40B4-BE49-F238E27FC236}">
                <a16:creationId xmlns:a16="http://schemas.microsoft.com/office/drawing/2014/main" id="{DD4B37D9-7135-F3BC-65A1-9CBF270372E2}"/>
              </a:ext>
            </a:extLst>
          </p:cNvPr>
          <p:cNvSpPr/>
          <p:nvPr/>
        </p:nvSpPr>
        <p:spPr>
          <a:xfrm flipV="1">
            <a:off x="-271206" y="733765"/>
            <a:ext cx="4287770" cy="280990"/>
          </a:xfrm>
          <a:prstGeom prst="mathMinus">
            <a:avLst/>
          </a:prstGeom>
          <a:solidFill>
            <a:srgbClr val="FFC000"/>
          </a:solidFill>
          <a:ln>
            <a:solidFill>
              <a:srgbClr val="0A9FD4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8216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5D35B-1394-E0A0-8BC9-A7DCDE795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in kutusu 32">
            <a:extLst>
              <a:ext uri="{FF2B5EF4-FFF2-40B4-BE49-F238E27FC236}">
                <a16:creationId xmlns:a16="http://schemas.microsoft.com/office/drawing/2014/main" id="{DEDE740B-A275-7890-9B93-80E84F26B052}"/>
              </a:ext>
            </a:extLst>
          </p:cNvPr>
          <p:cNvSpPr txBox="1"/>
          <p:nvPr/>
        </p:nvSpPr>
        <p:spPr>
          <a:xfrm>
            <a:off x="157572" y="38644"/>
            <a:ext cx="10544928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tr-TR" sz="3200" err="1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Encore</a:t>
            </a:r>
            <a:r>
              <a:rPr lang="tr-TR" sz="3200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 – </a:t>
            </a:r>
            <a:r>
              <a:rPr lang="tr-TR" sz="3200" err="1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EnPOS</a:t>
            </a:r>
            <a:r>
              <a:rPr lang="tr-TR" sz="3200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 - Logo - Microsoft Dynamics vb. Kullanan Firmalardaki Durumlar 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2384B380-65C6-E74F-5EB6-6D2A1DFB021E}"/>
              </a:ext>
            </a:extLst>
          </p:cNvPr>
          <p:cNvSpPr txBox="1"/>
          <p:nvPr/>
        </p:nvSpPr>
        <p:spPr>
          <a:xfrm>
            <a:off x="157572" y="1204921"/>
            <a:ext cx="11601814" cy="65864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r>
              <a:rPr lang="tr-TR" sz="1400" b="1" dirty="0"/>
              <a:t>Süreç İlerleyen / Fırsat Potansiyel</a:t>
            </a:r>
            <a:endParaRPr lang="tr-TR" sz="1400" b="1" dirty="0">
              <a:ea typeface="Calibri"/>
              <a:cs typeface="Calibri"/>
            </a:endParaRPr>
          </a:p>
          <a:p>
            <a:r>
              <a:rPr lang="tr-TR" sz="1400" b="1" dirty="0">
                <a:ea typeface="Calibri"/>
                <a:cs typeface="Calibri"/>
              </a:rPr>
              <a:t>Beymen: </a:t>
            </a:r>
            <a:r>
              <a:rPr lang="tr-TR" sz="1400" dirty="0">
                <a:ea typeface="Calibri"/>
                <a:cs typeface="Calibri"/>
              </a:rPr>
              <a:t>Bu hafta 121 adet A6650 siparişi geçilmiştir.</a:t>
            </a:r>
          </a:p>
          <a:p>
            <a:pPr>
              <a:lnSpc>
                <a:spcPct val="150000"/>
              </a:lnSpc>
            </a:pPr>
            <a:r>
              <a:rPr lang="tr-TR" sz="1400" b="1" dirty="0"/>
              <a:t>Greyder:</a:t>
            </a:r>
            <a:r>
              <a:rPr lang="tr-TR" sz="1400" dirty="0"/>
              <a:t> IT ile teknik/entegrasyon toplantısı yapıldı, SDK ve dokümanlar paylaşıldı. Yazılım ekipleri analiz çalışmalarını sürdürüyor; </a:t>
            </a:r>
            <a:r>
              <a:rPr lang="tr-TR" sz="1400" dirty="0" err="1"/>
              <a:t>franchise</a:t>
            </a:r>
            <a:r>
              <a:rPr lang="tr-TR" sz="1400" dirty="0"/>
              <a:t> mağazalar için VUK507 hakkında bilgi verildi ve doküman paylaşıldı. Süreç aktif takipte.</a:t>
            </a:r>
            <a:endParaRPr lang="tr-TR" sz="14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tr-TR" sz="1400" b="1" dirty="0" err="1">
                <a:ea typeface="Calibri"/>
                <a:cs typeface="Calibri"/>
              </a:rPr>
              <a:t>L'Occitane</a:t>
            </a:r>
            <a:r>
              <a:rPr lang="tr-TR" sz="1400" b="1" dirty="0">
                <a:ea typeface="Calibri"/>
                <a:cs typeface="Calibri"/>
              </a:rPr>
              <a:t>: </a:t>
            </a:r>
            <a:r>
              <a:rPr lang="tr-TR" sz="1400" dirty="0">
                <a:ea typeface="Calibri"/>
                <a:cs typeface="Calibri"/>
              </a:rPr>
              <a:t>50 A6650 potansiyel. GİZ </a:t>
            </a:r>
            <a:r>
              <a:rPr lang="tr-TR" sz="1400" dirty="0" err="1">
                <a:ea typeface="Calibri"/>
                <a:cs typeface="Calibri"/>
              </a:rPr>
              <a:t>Soft</a:t>
            </a:r>
            <a:r>
              <a:rPr lang="tr-TR" sz="1400" dirty="0">
                <a:ea typeface="Calibri"/>
                <a:cs typeface="Calibri"/>
              </a:rPr>
              <a:t> ile entegrasyon yapıldığı senaryoda Tersane mağazalarında kasasız ödeme olarak POC başlatılabilir.</a:t>
            </a:r>
          </a:p>
          <a:p>
            <a:pPr>
              <a:lnSpc>
                <a:spcPct val="150000"/>
              </a:lnSpc>
            </a:pPr>
            <a:r>
              <a:rPr lang="tr-TR" sz="1400" b="1" dirty="0" err="1"/>
              <a:t>Snowy</a:t>
            </a:r>
            <a:r>
              <a:rPr lang="tr-TR" sz="1400" b="1" dirty="0"/>
              <a:t> Ulu Kardeşler:</a:t>
            </a:r>
            <a:r>
              <a:rPr lang="tr-TR" sz="1400" dirty="0"/>
              <a:t> 22 şube / 88 kasa. IT Direktörleri ile tanışma gerçekleştirildi; Finans Direktörleri ile görüşme organize edilecek.</a:t>
            </a:r>
            <a:endParaRPr lang="tr-TR" sz="1400" dirty="0">
              <a:ea typeface="Calibri"/>
              <a:cs typeface="Calibri"/>
            </a:endParaRPr>
          </a:p>
          <a:p>
            <a:br>
              <a:rPr lang="tr-TR" sz="1600" dirty="0"/>
            </a:br>
            <a:endParaRPr lang="tr-TR" sz="1400" dirty="0">
              <a:ea typeface="Calibri"/>
              <a:cs typeface="Calibri"/>
            </a:endParaRPr>
          </a:p>
          <a:p>
            <a:r>
              <a:rPr lang="tr-TR" sz="1400" b="1" dirty="0"/>
              <a:t>POC / Pilot</a:t>
            </a:r>
            <a:endParaRPr lang="tr-TR" sz="1400" b="1" dirty="0">
              <a:ea typeface="Calibri"/>
              <a:cs typeface="Calibri"/>
            </a:endParaRPr>
          </a:p>
          <a:p>
            <a:r>
              <a:rPr lang="tr-TR" sz="1400" b="1" dirty="0" err="1"/>
              <a:t>Civil</a:t>
            </a:r>
            <a:r>
              <a:rPr lang="tr-TR" sz="1400" b="1" dirty="0"/>
              <a:t>:</a:t>
            </a:r>
            <a:r>
              <a:rPr lang="tr-TR" sz="1400" dirty="0"/>
              <a:t> Merkez testleri tamamlandı. Müşteri kendi testlerini tamamladıktan sonra mağaza POC sürecine çıkacak. POC mağaza listesi bekleniyor. </a:t>
            </a:r>
            <a:r>
              <a:rPr lang="tr-TR" sz="1400" dirty="0" err="1"/>
              <a:t>Encore</a:t>
            </a:r>
            <a:r>
              <a:rPr lang="tr-TR" sz="1400" dirty="0"/>
              <a:t> geçişlerine başladılar. Şuan rakibi ya da bizi mağaza ortamına kurmadılar.</a:t>
            </a:r>
            <a:endParaRPr lang="tr-TR" sz="1400" dirty="0">
              <a:ea typeface="Calibri"/>
              <a:cs typeface="Calibri"/>
            </a:endParaRPr>
          </a:p>
          <a:p>
            <a:br>
              <a:rPr lang="tr-TR" sz="1600" dirty="0"/>
            </a:br>
            <a:endParaRPr lang="tr-TR" sz="1400" dirty="0">
              <a:ea typeface="Calibri"/>
              <a:cs typeface="Calibri"/>
            </a:endParaRPr>
          </a:p>
          <a:p>
            <a:r>
              <a:rPr lang="tr-TR" sz="1400" b="1" dirty="0"/>
              <a:t>Değerlendirme</a:t>
            </a:r>
            <a:endParaRPr lang="tr-TR" sz="1400" b="1" dirty="0">
              <a:ea typeface="Calibri"/>
              <a:cs typeface="Calibri"/>
            </a:endParaRPr>
          </a:p>
          <a:p>
            <a:endParaRPr lang="tr-TR" sz="1400" dirty="0">
              <a:ea typeface="Calibri"/>
              <a:cs typeface="Calibri"/>
            </a:endParaRPr>
          </a:p>
          <a:p>
            <a:br>
              <a:rPr lang="tr-TR" sz="1600" dirty="0"/>
            </a:br>
            <a:endParaRPr lang="tr-TR" sz="1400" dirty="0">
              <a:ea typeface="Calibri"/>
              <a:cs typeface="Calibri"/>
            </a:endParaRPr>
          </a:p>
          <a:p>
            <a:endParaRPr lang="tr-TR" sz="1400" b="1" dirty="0"/>
          </a:p>
          <a:p>
            <a:r>
              <a:rPr lang="tr-TR" sz="1400" b="1" dirty="0"/>
              <a:t>Blokaj / Kritik Problem</a:t>
            </a:r>
            <a:endParaRPr lang="tr-TR" sz="1400" b="1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tr-TR" sz="1400" b="1" dirty="0" err="1"/>
              <a:t>Civil</a:t>
            </a:r>
            <a:r>
              <a:rPr lang="tr-TR" sz="1400" b="1" dirty="0"/>
              <a:t>:</a:t>
            </a:r>
            <a:r>
              <a:rPr lang="tr-TR" sz="1400" dirty="0"/>
              <a:t> Tek bağımlılık </a:t>
            </a:r>
            <a:r>
              <a:rPr lang="tr-TR" sz="1400" b="1" dirty="0" err="1"/>
              <a:t>Encore</a:t>
            </a:r>
            <a:r>
              <a:rPr lang="tr-TR" sz="1400" b="1" dirty="0"/>
              <a:t> entegrasyonu</a:t>
            </a:r>
            <a:r>
              <a:rPr lang="tr-TR" sz="1400" dirty="0"/>
              <a:t>. Entegrasyon tamamlanmadan mağaza POC başlatılamıyor. </a:t>
            </a:r>
            <a:endParaRPr lang="tr-TR" sz="14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tr-TR" sz="1400" b="1" dirty="0" err="1"/>
              <a:t>Hakmar</a:t>
            </a:r>
            <a:r>
              <a:rPr lang="tr-TR" sz="1400" b="1" dirty="0"/>
              <a:t>:</a:t>
            </a:r>
            <a:r>
              <a:rPr lang="tr-TR" sz="1400" dirty="0"/>
              <a:t> Tek bağımlılık </a:t>
            </a:r>
            <a:r>
              <a:rPr lang="tr-TR" sz="1400" b="1" dirty="0" err="1"/>
              <a:t>Encore</a:t>
            </a:r>
            <a:r>
              <a:rPr lang="tr-TR" sz="1400" b="1" dirty="0"/>
              <a:t> entegrasyonu</a:t>
            </a:r>
            <a:r>
              <a:rPr lang="tr-TR" sz="1400" dirty="0"/>
              <a:t>. Tamamlanması sonrası 1 mağaza pilot ile başlanıp yeni mağazalar üzerinden yaygınlaştırma planlanıyor.</a:t>
            </a:r>
            <a:endParaRPr lang="tr-TR" sz="1400" dirty="0">
              <a:ea typeface="Calibri"/>
              <a:cs typeface="Calibri"/>
            </a:endParaRPr>
          </a:p>
          <a:p>
            <a:endParaRPr lang="tr-TR" sz="1600" b="1" dirty="0"/>
          </a:p>
          <a:p>
            <a:endParaRPr lang="tr-TR" sz="1600" b="1" dirty="0"/>
          </a:p>
          <a:p>
            <a:endParaRPr lang="tr-TR" sz="1600" b="1" dirty="0">
              <a:ea typeface="Calibri" panose="020F0502020204030204"/>
              <a:cs typeface="Calibri" panose="020F0502020204030204"/>
            </a:endParaRPr>
          </a:p>
          <a:p>
            <a:endParaRPr lang="tr-TR" sz="1600" dirty="0">
              <a:ea typeface="Calibri" panose="020F0502020204030204"/>
              <a:cs typeface="Calibri" panose="020F0502020204030204"/>
            </a:endParaRPr>
          </a:p>
          <a:p>
            <a:endParaRPr lang="tr-TR" sz="16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Eksi İşareti 2">
            <a:extLst>
              <a:ext uri="{FF2B5EF4-FFF2-40B4-BE49-F238E27FC236}">
                <a16:creationId xmlns:a16="http://schemas.microsoft.com/office/drawing/2014/main" id="{15658483-1CF9-7168-97C8-9821179B9564}"/>
              </a:ext>
            </a:extLst>
          </p:cNvPr>
          <p:cNvSpPr/>
          <p:nvPr/>
        </p:nvSpPr>
        <p:spPr>
          <a:xfrm flipV="1">
            <a:off x="-316272" y="1025401"/>
            <a:ext cx="4287770" cy="280990"/>
          </a:xfrm>
          <a:prstGeom prst="mathMinus">
            <a:avLst/>
          </a:prstGeom>
          <a:solidFill>
            <a:srgbClr val="92D050"/>
          </a:solidFill>
          <a:ln>
            <a:solidFill>
              <a:srgbClr val="0A9FD4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Eksi İşareti 3">
            <a:extLst>
              <a:ext uri="{FF2B5EF4-FFF2-40B4-BE49-F238E27FC236}">
                <a16:creationId xmlns:a16="http://schemas.microsoft.com/office/drawing/2014/main" id="{47EF27B8-C357-8A04-340D-59F421C13C07}"/>
              </a:ext>
            </a:extLst>
          </p:cNvPr>
          <p:cNvSpPr/>
          <p:nvPr/>
        </p:nvSpPr>
        <p:spPr>
          <a:xfrm flipV="1">
            <a:off x="-316272" y="2868043"/>
            <a:ext cx="4287770" cy="280990"/>
          </a:xfrm>
          <a:prstGeom prst="mathMinus">
            <a:avLst/>
          </a:prstGeom>
          <a:solidFill>
            <a:srgbClr val="0A9FD4"/>
          </a:solidFill>
          <a:ln>
            <a:solidFill>
              <a:srgbClr val="0A9FD4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Eksi İşareti 4">
            <a:extLst>
              <a:ext uri="{FF2B5EF4-FFF2-40B4-BE49-F238E27FC236}">
                <a16:creationId xmlns:a16="http://schemas.microsoft.com/office/drawing/2014/main" id="{BC70C377-887E-6AC5-038F-341046CA3067}"/>
              </a:ext>
            </a:extLst>
          </p:cNvPr>
          <p:cNvSpPr/>
          <p:nvPr/>
        </p:nvSpPr>
        <p:spPr>
          <a:xfrm flipV="1">
            <a:off x="-316272" y="4092664"/>
            <a:ext cx="4287770" cy="280990"/>
          </a:xfrm>
          <a:prstGeom prst="mathMinus">
            <a:avLst/>
          </a:prstGeom>
          <a:solidFill>
            <a:srgbClr val="FFC000"/>
          </a:solidFill>
          <a:ln>
            <a:solidFill>
              <a:srgbClr val="0A9FD4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Eksi İşareti 5">
            <a:extLst>
              <a:ext uri="{FF2B5EF4-FFF2-40B4-BE49-F238E27FC236}">
                <a16:creationId xmlns:a16="http://schemas.microsoft.com/office/drawing/2014/main" id="{52053C15-2B76-5B45-AE54-7BC78B5A4F4A}"/>
              </a:ext>
            </a:extLst>
          </p:cNvPr>
          <p:cNvSpPr/>
          <p:nvPr/>
        </p:nvSpPr>
        <p:spPr>
          <a:xfrm flipV="1">
            <a:off x="-316272" y="5069814"/>
            <a:ext cx="4287770" cy="280990"/>
          </a:xfrm>
          <a:prstGeom prst="mathMinus">
            <a:avLst/>
          </a:prstGeom>
          <a:solidFill>
            <a:srgbClr val="C00000"/>
          </a:solidFill>
          <a:ln>
            <a:solidFill>
              <a:srgbClr val="0A9FD4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2620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3023" y="365761"/>
            <a:ext cx="112081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Pazartesi Toplantısı Kararları </a:t>
            </a:r>
            <a:r>
              <a:rPr sz="3200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– </a:t>
            </a:r>
            <a:r>
              <a:rPr sz="3200" err="1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Takip</a:t>
            </a:r>
            <a:r>
              <a:rPr sz="3200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sz="3200" err="1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Panosu</a:t>
            </a:r>
            <a:endParaRPr sz="3200">
              <a:gradFill>
                <a:gsLst>
                  <a:gs pos="100000">
                    <a:srgbClr val="11A1F3"/>
                  </a:gs>
                  <a:gs pos="0">
                    <a:srgbClr val="07055B"/>
                  </a:gs>
                </a:gsLst>
                <a:lin ang="7200000" scaled="0"/>
              </a:gra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249266"/>
              </p:ext>
            </p:extLst>
          </p:nvPr>
        </p:nvGraphicFramePr>
        <p:xfrm>
          <a:off x="353022" y="1222177"/>
          <a:ext cx="11616061" cy="3776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8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15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9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1457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r-TR" sz="1800" b="1">
                          <a:solidFill>
                            <a:srgbClr val="FFFFFF"/>
                          </a:solidFill>
                        </a:rPr>
                        <a:t>Ürün </a:t>
                      </a:r>
                      <a:endParaRPr sz="1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Ne istedik?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Durum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err="1">
                          <a:solidFill>
                            <a:srgbClr val="FFFFFF"/>
                          </a:solidFill>
                        </a:rPr>
                        <a:t>Beklenen</a:t>
                      </a:r>
                      <a:endParaRPr sz="1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167">
                <a:tc>
                  <a:txBody>
                    <a:bodyPr/>
                    <a:lstStyle/>
                    <a:p>
                      <a:r>
                        <a:rPr sz="1600" b="1"/>
                        <a:t>16 Şubat haftası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/>
                        <a:t>PAX Platform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Eğitim</a:t>
                      </a:r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sınav</a:t>
                      </a:r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süreç</a:t>
                      </a:r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akışının</a:t>
                      </a:r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hazırlanması</a:t>
                      </a:r>
                      <a:endParaRPr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Eğitim</a:t>
                      </a:r>
                      <a:r>
                        <a:rPr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sz="14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</a:t>
                      </a:r>
                      <a:r>
                        <a:rPr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sz="14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sınav</a:t>
                      </a:r>
                      <a:r>
                        <a:rPr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sz="14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tamamlandı</a:t>
                      </a:r>
                      <a:endParaRPr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Tamamlandı </a:t>
                      </a:r>
                      <a:endParaRPr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0807">
                <a:tc>
                  <a:txBody>
                    <a:bodyPr/>
                    <a:lstStyle/>
                    <a:p>
                      <a:r>
                        <a:rPr sz="1600" b="1" dirty="0"/>
                        <a:t>23 </a:t>
                      </a:r>
                      <a:r>
                        <a:rPr sz="1600" b="1" dirty="0" err="1"/>
                        <a:t>Şubat</a:t>
                      </a:r>
                      <a:r>
                        <a:rPr sz="1600" b="1" dirty="0"/>
                        <a:t> </a:t>
                      </a:r>
                      <a:r>
                        <a:rPr sz="1600" b="1" dirty="0" err="1"/>
                        <a:t>haftası</a:t>
                      </a:r>
                      <a:endParaRPr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Kasa 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Kasa POS </a:t>
                      </a:r>
                      <a:r>
                        <a:rPr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süreç</a:t>
                      </a:r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akışının</a:t>
                      </a:r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netleşmesi</a:t>
                      </a:r>
                      <a:endParaRPr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Önerilen 14 </a:t>
                      </a:r>
                      <a:r>
                        <a:rPr lang="tr-TR" sz="14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fazlık</a:t>
                      </a:r>
                      <a:r>
                        <a:rPr lang="tr-TR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süreç akışı kabul edildi.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Kasa POS Entegrasyon Durumları Sayfasında </a:t>
                      </a:r>
                      <a:r>
                        <a:rPr lang="tr-TR" sz="14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yayılanmaya</a:t>
                      </a:r>
                      <a:r>
                        <a:rPr lang="tr-TR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başladı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Tamamlandı </a:t>
                      </a:r>
                      <a:endParaRPr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457">
                <a:tc>
                  <a:txBody>
                    <a:bodyPr/>
                    <a:lstStyle/>
                    <a:p>
                      <a:r>
                        <a:rPr lang="tr-TR" sz="1600" b="1" dirty="0"/>
                        <a:t>2 Mart Haftası</a:t>
                      </a:r>
                      <a:endParaRPr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b="1" dirty="0"/>
                        <a:t>Pax </a:t>
                      </a:r>
                      <a:r>
                        <a:rPr lang="tr-TR" sz="1600" b="1" dirty="0" err="1"/>
                        <a:t>Patform</a:t>
                      </a:r>
                      <a:r>
                        <a:rPr lang="tr-TR" sz="1600" b="1" dirty="0"/>
                        <a:t> </a:t>
                      </a:r>
                      <a:endParaRPr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Süreç akış dokümanı (</a:t>
                      </a:r>
                      <a:r>
                        <a:rPr lang="tr-TR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onboarding</a:t>
                      </a:r>
                      <a:r>
                        <a:rPr lang="tr-T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operasyon) </a:t>
                      </a:r>
                      <a:r>
                        <a:rPr lang="tr-TR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Retail</a:t>
                      </a:r>
                      <a:r>
                        <a:rPr lang="tr-T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Ekibi tarafından hazırlanacak ve standartlaştırılacak.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Retail</a:t>
                      </a:r>
                      <a:r>
                        <a:rPr lang="tr-T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Ekibi hazırlıkları yapıyor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Retail</a:t>
                      </a:r>
                      <a:r>
                        <a:rPr lang="tr-T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Ekibinin Tamamlaması Hedef tarih 31 Mart. </a:t>
                      </a:r>
                      <a:endParaRPr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668546"/>
                  </a:ext>
                </a:extLst>
              </a:tr>
              <a:tr h="691457">
                <a:tc>
                  <a:txBody>
                    <a:bodyPr/>
                    <a:lstStyle/>
                    <a:p>
                      <a:endParaRPr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6936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2A034-8B01-7615-9E03-D65858A7F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in kutusu 32">
            <a:extLst>
              <a:ext uri="{FF2B5EF4-FFF2-40B4-BE49-F238E27FC236}">
                <a16:creationId xmlns:a16="http://schemas.microsoft.com/office/drawing/2014/main" id="{A7939CCE-D105-93C6-870C-2DCEF7639CD5}"/>
              </a:ext>
            </a:extLst>
          </p:cNvPr>
          <p:cNvSpPr txBox="1"/>
          <p:nvPr/>
        </p:nvSpPr>
        <p:spPr>
          <a:xfrm>
            <a:off x="171538" y="144228"/>
            <a:ext cx="105449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dirty="0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Kasa Pos Entegrasyon Durumları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1B2E5649-879E-C8CD-6271-7107081383A2}"/>
              </a:ext>
            </a:extLst>
          </p:cNvPr>
          <p:cNvSpPr txBox="1"/>
          <p:nvPr/>
        </p:nvSpPr>
        <p:spPr>
          <a:xfrm>
            <a:off x="171538" y="890358"/>
            <a:ext cx="11584866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endParaRPr lang="tr-TR" sz="1600" b="1" dirty="0"/>
          </a:p>
          <a:p>
            <a:endParaRPr lang="tr-TR" sz="1600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endParaRPr lang="tr-TR" sz="1600" b="1" dirty="0">
              <a:ea typeface="Calibri" panose="020F0502020204030204"/>
              <a:cs typeface="Calibri" panose="020F0502020204030204"/>
            </a:endParaRPr>
          </a:p>
          <a:p>
            <a:endParaRPr lang="tr-TR" sz="1600" dirty="0">
              <a:ea typeface="Calibri" panose="020F0502020204030204"/>
              <a:cs typeface="Calibri" panose="020F0502020204030204"/>
            </a:endParaRPr>
          </a:p>
          <a:p>
            <a:endParaRPr lang="tr-TR" sz="1600" dirty="0"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3" name="Tablo 2">
            <a:extLst>
              <a:ext uri="{FF2B5EF4-FFF2-40B4-BE49-F238E27FC236}">
                <a16:creationId xmlns:a16="http://schemas.microsoft.com/office/drawing/2014/main" id="{A8943E05-FCFB-A74B-AC84-D58B1CF0C753}"/>
              </a:ext>
            </a:extLst>
          </p:cNvPr>
          <p:cNvGraphicFramePr>
            <a:graphicFrameLocks noGrp="1"/>
          </p:cNvGraphicFramePr>
          <p:nvPr/>
        </p:nvGraphicFramePr>
        <p:xfrm>
          <a:off x="223878" y="890359"/>
          <a:ext cx="11744243" cy="5377224"/>
        </p:xfrm>
        <a:graphic>
          <a:graphicData uri="http://schemas.openxmlformats.org/drawingml/2006/table">
            <a:tbl>
              <a:tblPr firstRow="1" bandRow="1">
                <a:effectLst/>
                <a:tableStyleId>{69012ECD-51FC-41F1-AA8D-1B2483CD663E}</a:tableStyleId>
              </a:tblPr>
              <a:tblGrid>
                <a:gridCol w="419012">
                  <a:extLst>
                    <a:ext uri="{9D8B030D-6E8A-4147-A177-3AD203B41FA5}">
                      <a16:colId xmlns:a16="http://schemas.microsoft.com/office/drawing/2014/main" val="3118915220"/>
                    </a:ext>
                  </a:extLst>
                </a:gridCol>
                <a:gridCol w="1685931">
                  <a:extLst>
                    <a:ext uri="{9D8B030D-6E8A-4147-A177-3AD203B41FA5}">
                      <a16:colId xmlns:a16="http://schemas.microsoft.com/office/drawing/2014/main" val="1517418316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5693745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68892814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923698837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552284803"/>
                    </a:ext>
                  </a:extLst>
                </a:gridCol>
                <a:gridCol w="2071729">
                  <a:extLst>
                    <a:ext uri="{9D8B030D-6E8A-4147-A177-3AD203B41FA5}">
                      <a16:colId xmlns:a16="http://schemas.microsoft.com/office/drawing/2014/main" val="3580693969"/>
                    </a:ext>
                  </a:extLst>
                </a:gridCol>
                <a:gridCol w="2376446">
                  <a:extLst>
                    <a:ext uri="{9D8B030D-6E8A-4147-A177-3AD203B41FA5}">
                      <a16:colId xmlns:a16="http://schemas.microsoft.com/office/drawing/2014/main" val="3979089302"/>
                    </a:ext>
                  </a:extLst>
                </a:gridCol>
              </a:tblGrid>
              <a:tr h="32925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r-TR" sz="1400" b="1" cap="none" spc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1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Kasa Yazılımı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1" cap="none" spc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Ent Tipi</a:t>
                      </a:r>
                      <a:r>
                        <a:rPr lang="tr-TR" sz="1400" b="1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1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Pilot Müşteri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1" cap="none" spc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Faz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1" cap="none" spc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Süreç Sahibi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1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PAX Departmanı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1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Durum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5524993"/>
                  </a:ext>
                </a:extLst>
              </a:tr>
              <a:tr h="329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Başarı Yazılım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A2A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Ortak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🟠 Geliştirme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8351575"/>
                  </a:ext>
                </a:extLst>
              </a:tr>
              <a:tr h="329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Birikim Yazılım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A2A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Doğuş Perakende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Ortak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🟠 Geliştirme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8268202"/>
                  </a:ext>
                </a:extLst>
              </a:tr>
              <a:tr h="329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Robot POS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A2A / D2D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Kahve Dünyası, Tavuk Dünyası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Ortak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Project</a:t>
                      </a:r>
                      <a:r>
                        <a:rPr lang="tr-TR" sz="1400" b="0" cap="none" spc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  <a:endParaRPr lang="tr-TR" sz="1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🟠 Geliştirme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8145945"/>
                  </a:ext>
                </a:extLst>
              </a:tr>
              <a:tr h="280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Microsoft Dynamics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D2D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Greyder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Ortak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🟠 Geliştirme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633599"/>
                  </a:ext>
                </a:extLst>
              </a:tr>
              <a:tr h="329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Logo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D2D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Greyder, Boyner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Ortak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🟠 Geliştirme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3542755"/>
                  </a:ext>
                </a:extLst>
              </a:tr>
              <a:tr h="280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Encore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D2D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Civil, Hakmar</a:t>
                      </a: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  <a:r>
                        <a:rPr lang="tr-TR" sz="1400" b="0" cap="none" spc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  <a:endParaRPr lang="tr-TR" sz="1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Ortak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🟠 Geliştirme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9972244"/>
                  </a:ext>
                </a:extLst>
              </a:tr>
              <a:tr h="280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EnPOS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D2D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Seyhanlar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Ortak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🟠 Geliştirme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0007519"/>
                  </a:ext>
                </a:extLst>
              </a:tr>
              <a:tr h="280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Suwen In-House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A2A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Suwen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Ortak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🟠 Geliştirme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3323043"/>
                  </a:ext>
                </a:extLst>
              </a:tr>
              <a:tr h="280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Tera</a:t>
                      </a:r>
                      <a:endParaRPr lang="tr-TR" sz="1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D2D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Beymen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Ortak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🟠 Geliştirme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0980"/>
                  </a:ext>
                </a:extLst>
              </a:tr>
              <a:tr h="280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İpekyol In-House</a:t>
                      </a:r>
                      <a:r>
                        <a:rPr lang="tr-TR" sz="1400" b="0" cap="none" spc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A2A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İpekyol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Ortak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🔵 Uçtan Uca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2794201"/>
                  </a:ext>
                </a:extLst>
              </a:tr>
              <a:tr h="280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Yargıcı In-House</a:t>
                      </a:r>
                      <a:r>
                        <a:rPr lang="tr-TR" sz="1400" b="0" cap="none" spc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A2A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Yargıcı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Ortak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🔵 Uçtan Uca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050867"/>
                  </a:ext>
                </a:extLst>
              </a:tr>
              <a:tr h="280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Toshiba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D2D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Çetinkaya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Ortak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🔵 Uçtan Uca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511338"/>
                  </a:ext>
                </a:extLst>
              </a:tr>
              <a:tr h="280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Toshiba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A2A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Boyner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Ortak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🔵 Uçtan Uca 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345310"/>
                  </a:ext>
                </a:extLst>
              </a:tr>
              <a:tr h="329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Tera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A2A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Eren Holding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Ortak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Direct Sales + Project</a:t>
                      </a:r>
                      <a:r>
                        <a:rPr lang="tr-TR" sz="1400" b="0" cap="none" spc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🔵 Pilot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49120"/>
                  </a:ext>
                </a:extLst>
              </a:tr>
              <a:tr h="329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Nebim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D2D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Kiğılı, İpekyol, Suwen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Direct Sales + POM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🟢 Yaygınlaştırma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168938"/>
                  </a:ext>
                </a:extLst>
              </a:tr>
              <a:tr h="329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Logo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A2A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Beymen, Unifree, Fiba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Direct Sales</a:t>
                      </a:r>
                      <a:r>
                        <a:rPr lang="tr-TR" sz="1400" b="0" cap="none" spc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  <a:endParaRPr lang="tr-TR" sz="1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🟢 Kanıtlanmış Ürün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5147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2588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9CE4B-DC24-4266-FE0D-C4F47CCE0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9D2FA43C-1479-76B9-1907-4126D11F46DE}"/>
              </a:ext>
            </a:extLst>
          </p:cNvPr>
          <p:cNvSpPr txBox="1"/>
          <p:nvPr/>
        </p:nvSpPr>
        <p:spPr>
          <a:xfrm>
            <a:off x="184187" y="173412"/>
            <a:ext cx="1182362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tr-TR" sz="2800" dirty="0">
                <a:gradFill>
                  <a:gsLst>
                    <a:gs pos="0">
                      <a:srgbClr val="07055B"/>
                    </a:gs>
                    <a:gs pos="100000">
                      <a:srgbClr val="11A1F3"/>
                    </a:gs>
                  </a:gsLst>
                  <a:lin ang="7200000" scaled="0"/>
                </a:gradFill>
                <a:latin typeface="Poppins SemiBold"/>
                <a:cs typeface="Poppins SemiBold"/>
              </a:rPr>
              <a:t>Retail Support EKİBİ</a:t>
            </a:r>
            <a:r>
              <a:rPr lang="sv-SE" sz="2800" dirty="0">
                <a:gradFill>
                  <a:gsLst>
                    <a:gs pos="0">
                      <a:srgbClr val="07055B"/>
                    </a:gs>
                    <a:gs pos="100000">
                      <a:srgbClr val="11A1F3"/>
                    </a:gs>
                  </a:gsLst>
                  <a:lin ang="7200000" scaled="0"/>
                </a:gradFill>
                <a:latin typeface="Poppins SemiBold"/>
                <a:cs typeface="Poppins SemiBold"/>
              </a:rPr>
              <a:t> </a:t>
            </a:r>
            <a:r>
              <a:rPr lang="tr-TR" sz="2800" dirty="0" err="1">
                <a:gradFill>
                  <a:gsLst>
                    <a:gs pos="0">
                      <a:srgbClr val="07055B"/>
                    </a:gs>
                    <a:gs pos="100000">
                      <a:srgbClr val="11A1F3"/>
                    </a:gs>
                  </a:gsLst>
                  <a:lin ang="7200000" scaled="0"/>
                </a:gradFill>
                <a:latin typeface="Poppins SemiBold"/>
                <a:cs typeface="Poppins SemiBold"/>
              </a:rPr>
              <a:t>Ticket</a:t>
            </a:r>
            <a:r>
              <a:rPr lang="tr-TR" sz="2800" dirty="0">
                <a:gradFill>
                  <a:gsLst>
                    <a:gs pos="0">
                      <a:srgbClr val="07055B"/>
                    </a:gs>
                    <a:gs pos="100000">
                      <a:srgbClr val="11A1F3"/>
                    </a:gs>
                  </a:gsLst>
                  <a:lin ang="7200000" scaled="0"/>
                </a:gradFill>
                <a:latin typeface="Poppins SemiBold"/>
                <a:cs typeface="Poppins SemiBold"/>
              </a:rPr>
              <a:t> Özeti</a:t>
            </a:r>
            <a:r>
              <a:rPr lang="sv-SE" sz="2800" dirty="0">
                <a:gradFill>
                  <a:gsLst>
                    <a:gs pos="0">
                      <a:srgbClr val="07055B"/>
                    </a:gs>
                    <a:gs pos="100000">
                      <a:srgbClr val="11A1F3"/>
                    </a:gs>
                  </a:gsLst>
                  <a:lin ang="7200000" scaled="0"/>
                </a:gradFill>
                <a:latin typeface="Poppins SemiBold"/>
                <a:cs typeface="Poppins SemiBold"/>
              </a:rPr>
              <a:t>- 13.</a:t>
            </a:r>
            <a:r>
              <a:rPr lang="tr-TR" sz="2800" dirty="0">
                <a:gradFill>
                  <a:gsLst>
                    <a:gs pos="0">
                      <a:srgbClr val="07055B"/>
                    </a:gs>
                    <a:gs pos="100000">
                      <a:srgbClr val="11A1F3"/>
                    </a:gs>
                  </a:gsLst>
                  <a:lin ang="7200000" scaled="0"/>
                </a:gradFill>
                <a:latin typeface="Poppins SemiBold"/>
                <a:cs typeface="Poppins SemiBold"/>
              </a:rPr>
              <a:t>04</a:t>
            </a:r>
            <a:r>
              <a:rPr lang="sv-SE" sz="2800" dirty="0">
                <a:gradFill>
                  <a:gsLst>
                    <a:gs pos="0">
                      <a:srgbClr val="07055B"/>
                    </a:gs>
                    <a:gs pos="100000">
                      <a:srgbClr val="11A1F3"/>
                    </a:gs>
                  </a:gsLst>
                  <a:lin ang="7200000" scaled="0"/>
                </a:gradFill>
                <a:latin typeface="Poppins SemiBold"/>
                <a:cs typeface="Poppins SemiBold"/>
              </a:rPr>
              <a:t>.202</a:t>
            </a:r>
            <a:r>
              <a:rPr lang="tr-TR" sz="2800" dirty="0">
                <a:gradFill>
                  <a:gsLst>
                    <a:gs pos="0">
                      <a:srgbClr val="07055B"/>
                    </a:gs>
                    <a:gs pos="100000">
                      <a:srgbClr val="11A1F3"/>
                    </a:gs>
                  </a:gsLst>
                  <a:lin ang="7200000" scaled="0"/>
                </a:gradFill>
                <a:latin typeface="Poppins SemiBold"/>
                <a:cs typeface="Poppins SemiBold"/>
              </a:rPr>
              <a:t>6</a:t>
            </a:r>
            <a:r>
              <a:rPr lang="sv-SE" sz="2800" dirty="0">
                <a:gradFill>
                  <a:gsLst>
                    <a:gs pos="0">
                      <a:srgbClr val="07055B"/>
                    </a:gs>
                    <a:gs pos="100000">
                      <a:srgbClr val="11A1F3"/>
                    </a:gs>
                  </a:gsLst>
                  <a:lin ang="7200000" scaled="0"/>
                </a:gradFill>
                <a:latin typeface="Poppins SemiBold"/>
                <a:cs typeface="Poppins SemiBold"/>
              </a:rPr>
              <a:t> –</a:t>
            </a:r>
            <a:r>
              <a:rPr lang="tr-TR" sz="2800" dirty="0">
                <a:gradFill>
                  <a:gsLst>
                    <a:gs pos="0">
                      <a:srgbClr val="07055B"/>
                    </a:gs>
                    <a:gs pos="100000">
                      <a:srgbClr val="11A1F3"/>
                    </a:gs>
                  </a:gsLst>
                  <a:lin ang="7200000" scaled="0"/>
                </a:gradFill>
                <a:latin typeface="Poppins SemiBold"/>
                <a:cs typeface="Poppins SemiBold"/>
              </a:rPr>
              <a:t> 17</a:t>
            </a:r>
            <a:r>
              <a:rPr lang="sv-SE" sz="2800" dirty="0">
                <a:gradFill>
                  <a:gsLst>
                    <a:gs pos="0">
                      <a:srgbClr val="07055B"/>
                    </a:gs>
                    <a:gs pos="100000">
                      <a:srgbClr val="11A1F3"/>
                    </a:gs>
                  </a:gsLst>
                  <a:lin ang="7200000" scaled="0"/>
                </a:gradFill>
                <a:latin typeface="Poppins SemiBold"/>
                <a:cs typeface="Poppins SemiBold"/>
              </a:rPr>
              <a:t>.</a:t>
            </a:r>
            <a:r>
              <a:rPr lang="tr-TR" sz="2800" dirty="0">
                <a:gradFill>
                  <a:gsLst>
                    <a:gs pos="0">
                      <a:srgbClr val="07055B"/>
                    </a:gs>
                    <a:gs pos="100000">
                      <a:srgbClr val="11A1F3"/>
                    </a:gs>
                  </a:gsLst>
                  <a:lin ang="7200000" scaled="0"/>
                </a:gradFill>
                <a:latin typeface="Poppins SemiBold"/>
                <a:cs typeface="Poppins SemiBold"/>
              </a:rPr>
              <a:t>04</a:t>
            </a:r>
            <a:r>
              <a:rPr lang="sv-SE" sz="2800" dirty="0">
                <a:gradFill>
                  <a:gsLst>
                    <a:gs pos="0">
                      <a:srgbClr val="07055B"/>
                    </a:gs>
                    <a:gs pos="100000">
                      <a:srgbClr val="11A1F3"/>
                    </a:gs>
                  </a:gsLst>
                  <a:lin ang="7200000" scaled="0"/>
                </a:gradFill>
                <a:latin typeface="Poppins SemiBold"/>
                <a:cs typeface="Poppins SemiBold"/>
              </a:rPr>
              <a:t>.202</a:t>
            </a:r>
            <a:r>
              <a:rPr lang="tr-TR" sz="2800" dirty="0">
                <a:gradFill>
                  <a:gsLst>
                    <a:gs pos="0">
                      <a:srgbClr val="07055B"/>
                    </a:gs>
                    <a:gs pos="100000">
                      <a:srgbClr val="11A1F3"/>
                    </a:gs>
                  </a:gsLst>
                  <a:lin ang="7200000" scaled="0"/>
                </a:gradFill>
                <a:latin typeface="Poppins SemiBold"/>
                <a:cs typeface="Poppins SemiBold"/>
              </a:rPr>
              <a:t>6</a:t>
            </a:r>
            <a:endParaRPr lang="tr-TR" sz="3200" dirty="0">
              <a:gradFill>
                <a:gsLst>
                  <a:gs pos="0">
                    <a:srgbClr val="07055B"/>
                  </a:gs>
                  <a:gs pos="100000">
                    <a:srgbClr val="11A1F3"/>
                  </a:gs>
                </a:gsLst>
                <a:lin ang="7200000" scaled="0"/>
              </a:gradFill>
              <a:latin typeface="Poppins SemiBold"/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721053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6F60F-BBDF-50A6-6B22-C2D91AEB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in kutusu 32">
            <a:extLst>
              <a:ext uri="{FF2B5EF4-FFF2-40B4-BE49-F238E27FC236}">
                <a16:creationId xmlns:a16="http://schemas.microsoft.com/office/drawing/2014/main" id="{0BF9F59F-ABE8-4A6B-9436-0728177FBD6A}"/>
              </a:ext>
            </a:extLst>
          </p:cNvPr>
          <p:cNvSpPr txBox="1"/>
          <p:nvPr/>
        </p:nvSpPr>
        <p:spPr>
          <a:xfrm>
            <a:off x="284749" y="221642"/>
            <a:ext cx="105449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Temas </a:t>
            </a:r>
            <a:r>
              <a:rPr lang="es-ES" sz="3200" err="1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Edilen</a:t>
            </a:r>
            <a:r>
              <a:rPr lang="es-ES" sz="3200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s-ES" sz="3200" err="1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Müşteri</a:t>
            </a:r>
            <a:r>
              <a:rPr lang="tr-TR" sz="3200" err="1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ler</a:t>
            </a:r>
            <a:r>
              <a:rPr lang="tr-TR" sz="3200">
                <a:gradFill>
                  <a:gsLst>
                    <a:gs pos="100000">
                      <a:srgbClr val="11A1F3"/>
                    </a:gs>
                    <a:gs pos="0">
                      <a:srgbClr val="07055B"/>
                    </a:gs>
                  </a:gsLst>
                  <a:lin ang="7200000" scaled="0"/>
                </a:gra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</a:p>
        </p:txBody>
      </p:sp>
      <p:graphicFrame>
        <p:nvGraphicFramePr>
          <p:cNvPr id="3" name="Tablo 2">
            <a:extLst>
              <a:ext uri="{FF2B5EF4-FFF2-40B4-BE49-F238E27FC236}">
                <a16:creationId xmlns:a16="http://schemas.microsoft.com/office/drawing/2014/main" id="{2D01054D-9220-66F4-35E0-11B88773E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910565"/>
              </p:ext>
            </p:extLst>
          </p:nvPr>
        </p:nvGraphicFramePr>
        <p:xfrm>
          <a:off x="383459" y="806417"/>
          <a:ext cx="11316929" cy="5321192"/>
        </p:xfrm>
        <a:graphic>
          <a:graphicData uri="http://schemas.openxmlformats.org/drawingml/2006/table">
            <a:tbl>
              <a:tblPr/>
              <a:tblGrid>
                <a:gridCol w="1307520">
                  <a:extLst>
                    <a:ext uri="{9D8B030D-6E8A-4147-A177-3AD203B41FA5}">
                      <a16:colId xmlns:a16="http://schemas.microsoft.com/office/drawing/2014/main" val="2980010785"/>
                    </a:ext>
                  </a:extLst>
                </a:gridCol>
                <a:gridCol w="1737625">
                  <a:extLst>
                    <a:ext uri="{9D8B030D-6E8A-4147-A177-3AD203B41FA5}">
                      <a16:colId xmlns:a16="http://schemas.microsoft.com/office/drawing/2014/main" val="1533052703"/>
                    </a:ext>
                  </a:extLst>
                </a:gridCol>
                <a:gridCol w="1668808">
                  <a:extLst>
                    <a:ext uri="{9D8B030D-6E8A-4147-A177-3AD203B41FA5}">
                      <a16:colId xmlns:a16="http://schemas.microsoft.com/office/drawing/2014/main" val="944131150"/>
                    </a:ext>
                  </a:extLst>
                </a:gridCol>
                <a:gridCol w="1118274">
                  <a:extLst>
                    <a:ext uri="{9D8B030D-6E8A-4147-A177-3AD203B41FA5}">
                      <a16:colId xmlns:a16="http://schemas.microsoft.com/office/drawing/2014/main" val="1285101311"/>
                    </a:ext>
                  </a:extLst>
                </a:gridCol>
                <a:gridCol w="1479562">
                  <a:extLst>
                    <a:ext uri="{9D8B030D-6E8A-4147-A177-3AD203B41FA5}">
                      <a16:colId xmlns:a16="http://schemas.microsoft.com/office/drawing/2014/main" val="2427913553"/>
                    </a:ext>
                  </a:extLst>
                </a:gridCol>
                <a:gridCol w="324802">
                  <a:extLst>
                    <a:ext uri="{9D8B030D-6E8A-4147-A177-3AD203B41FA5}">
                      <a16:colId xmlns:a16="http://schemas.microsoft.com/office/drawing/2014/main" val="246423333"/>
                    </a:ext>
                  </a:extLst>
                </a:gridCol>
                <a:gridCol w="1533253">
                  <a:extLst>
                    <a:ext uri="{9D8B030D-6E8A-4147-A177-3AD203B41FA5}">
                      <a16:colId xmlns:a16="http://schemas.microsoft.com/office/drawing/2014/main" val="187904435"/>
                    </a:ext>
                  </a:extLst>
                </a:gridCol>
                <a:gridCol w="1858055">
                  <a:extLst>
                    <a:ext uri="{9D8B030D-6E8A-4147-A177-3AD203B41FA5}">
                      <a16:colId xmlns:a16="http://schemas.microsoft.com/office/drawing/2014/main" val="184691530"/>
                    </a:ext>
                  </a:extLst>
                </a:gridCol>
                <a:gridCol w="144515">
                  <a:extLst>
                    <a:ext uri="{9D8B030D-6E8A-4147-A177-3AD203B41FA5}">
                      <a16:colId xmlns:a16="http://schemas.microsoft.com/office/drawing/2014/main" val="3702489262"/>
                    </a:ext>
                  </a:extLst>
                </a:gridCol>
                <a:gridCol w="144515">
                  <a:extLst>
                    <a:ext uri="{9D8B030D-6E8A-4147-A177-3AD203B41FA5}">
                      <a16:colId xmlns:a16="http://schemas.microsoft.com/office/drawing/2014/main" val="1363631245"/>
                    </a:ext>
                  </a:extLst>
                </a:gridCol>
              </a:tblGrid>
              <a:tr h="478809"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tr-TR" sz="1800" b="1" i="0" u="none" strike="noStrike">
                          <a:solidFill>
                            <a:srgbClr val="1F2937"/>
                          </a:solidFill>
                          <a:effectLst/>
                          <a:latin typeface="Calibri" panose="020F0502020204030204" pitchFamily="34" charset="0"/>
                        </a:rPr>
                        <a:t>Yönetici Raporu Özeti – Ortak (4 Kişi)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316186"/>
                  </a:ext>
                </a:extLst>
              </a:tr>
              <a:tr h="294652"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tr-TR" sz="1000" b="0" i="0" u="none" strike="noStrike">
                          <a:solidFill>
                            <a:srgbClr val="374151"/>
                          </a:solidFill>
                          <a:effectLst/>
                          <a:latin typeface="Calibri" panose="020F0502020204030204" pitchFamily="34" charset="0"/>
                        </a:rPr>
                        <a:t>Periyot: [2026-16 / Tarih Aralığı]    Rapor Tarihi: [10.04.2026] 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425880"/>
                  </a:ext>
                </a:extLst>
              </a:tr>
              <a:tr h="2946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364995"/>
                  </a:ext>
                </a:extLst>
              </a:tr>
              <a:tr h="5923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Fiziki Toplantı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Online Toplantı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Teknik Ziyaret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Toplam Aktivite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Tekil Firma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903433"/>
                  </a:ext>
                </a:extLst>
              </a:tr>
              <a:tr h="429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1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1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1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1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1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971708"/>
                  </a:ext>
                </a:extLst>
              </a:tr>
              <a:tr h="2946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424555"/>
                  </a:ext>
                </a:extLst>
              </a:tr>
              <a:tr h="294652"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tr-T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Özet Tablo (Kişi Bazında)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A4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041518"/>
                  </a:ext>
                </a:extLst>
              </a:tr>
              <a:tr h="2946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021280"/>
                  </a:ext>
                </a:extLst>
              </a:tr>
              <a:tr h="2946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Sorumlu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Fiziki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Online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Teknik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Toplam Aktivite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Toplam Firma (</a:t>
                      </a:r>
                      <a:r>
                        <a:rPr lang="tr-TR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Unique</a:t>
                      </a:r>
                      <a:r>
                        <a:rPr lang="tr-T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Toplam Firma (</a:t>
                      </a:r>
                      <a:r>
                        <a:rPr lang="tr-TR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Unique</a:t>
                      </a:r>
                      <a:r>
                        <a:rPr lang="tr-T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İlk Kez Ziyaret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701486"/>
                  </a:ext>
                </a:extLst>
              </a:tr>
              <a:tr h="2967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tr-TR" sz="1100" b="1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Ömer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tr-TR" sz="1100" b="0" i="0" u="none" strike="noStrike" dirty="0">
                        <a:solidFill>
                          <a:srgbClr val="11182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493107"/>
                  </a:ext>
                </a:extLst>
              </a:tr>
              <a:tr h="2946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tr-TR" sz="1100" b="1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Furkan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tr-TR" sz="1100" b="0" i="0" u="none" strike="noStrike" dirty="0">
                        <a:solidFill>
                          <a:srgbClr val="11182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319224"/>
                  </a:ext>
                </a:extLst>
              </a:tr>
              <a:tr h="3069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tr-TR" sz="1100" b="1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İshak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429428"/>
                  </a:ext>
                </a:extLst>
              </a:tr>
              <a:tr h="3069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tr-TR" sz="1100" b="1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Taha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0" i="0" u="none" strike="noStrike" dirty="0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737607"/>
                  </a:ext>
                </a:extLst>
              </a:tr>
              <a:tr h="2946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tr-TR" sz="1100" b="1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Toplam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1" i="0" u="none" strike="noStrike" dirty="0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1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1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1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1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1" i="0" u="none" strike="noStrike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100" b="1" i="0" u="none" strike="noStrike" dirty="0">
                          <a:solidFill>
                            <a:srgbClr val="111827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604773"/>
                  </a:ext>
                </a:extLst>
              </a:tr>
              <a:tr h="2946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tr-T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704279"/>
                  </a:ext>
                </a:extLst>
              </a:tr>
              <a:tr h="257820">
                <a:tc grid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r-TR" sz="1000" b="0" i="0" u="none" strike="noStrike" dirty="0">
                          <a:solidFill>
                            <a:srgbClr val="92400E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086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25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35599-4277-DFB0-B1F9-A5BF675C5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54ED9F-CB85-03F2-862C-294B53820330}"/>
              </a:ext>
            </a:extLst>
          </p:cNvPr>
          <p:cNvSpPr txBox="1"/>
          <p:nvPr/>
        </p:nvSpPr>
        <p:spPr>
          <a:xfrm>
            <a:off x="2676621" y="2705725"/>
            <a:ext cx="683875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8800">
                <a:solidFill>
                  <a:srgbClr val="0062C5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Teşekkürler</a:t>
            </a:r>
            <a:endParaRPr lang="en-US" sz="8800">
              <a:solidFill>
                <a:srgbClr val="0062C5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7F855DF5-2310-9D13-204D-BEAA29C31C24}"/>
              </a:ext>
            </a:extLst>
          </p:cNvPr>
          <p:cNvSpPr txBox="1"/>
          <p:nvPr/>
        </p:nvSpPr>
        <p:spPr>
          <a:xfrm>
            <a:off x="3795174" y="5038628"/>
            <a:ext cx="4601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>
                <a:solidFill>
                  <a:srgbClr val="808285"/>
                </a:solidFill>
                <a:latin typeface="Poppins Light" panose="00000400000000000000" pitchFamily="2" charset="-94"/>
                <a:cs typeface="Poppins Light" panose="00000400000000000000" pitchFamily="2" charset="-94"/>
              </a:rPr>
              <a:t>info@paxturkiye.com | paxturkiye.com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5B46488-D5FA-7067-B64D-2440048BF5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4079" t="8539" r="23766" b="8539"/>
          <a:stretch>
            <a:fillRect/>
          </a:stretch>
        </p:blipFill>
        <p:spPr>
          <a:xfrm>
            <a:off x="3795174" y="841877"/>
            <a:ext cx="3830129" cy="121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844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2232</Words>
  <Application>Microsoft Office PowerPoint</Application>
  <PresentationFormat>Geniş ekran</PresentationFormat>
  <Paragraphs>455</Paragraphs>
  <Slides>18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4" baseType="lpstr">
      <vt:lpstr>Arial</vt:lpstr>
      <vt:lpstr>Calibri</vt:lpstr>
      <vt:lpstr>Poppins Bold</vt:lpstr>
      <vt:lpstr>Poppins Light</vt:lpstr>
      <vt:lpstr>Poppins SemiBold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CIMAHI TECHNOPARK</dc:creator>
  <cp:lastModifiedBy>user</cp:lastModifiedBy>
  <cp:revision>656</cp:revision>
  <dcterms:created xsi:type="dcterms:W3CDTF">2024-02-05T05:08:12Z</dcterms:created>
  <dcterms:modified xsi:type="dcterms:W3CDTF">2026-05-11T10:42:15Z</dcterms:modified>
</cp:coreProperties>
</file>